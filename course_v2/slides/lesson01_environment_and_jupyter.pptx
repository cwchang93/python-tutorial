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03b9b6291e41de" /><Relationship Type="http://schemas.openxmlformats.org/officeDocument/2006/relationships/extended-properties" Target="/docProps/app.xml" Id="R1f0a02a4886b4a62" /><Relationship Type="http://schemas.openxmlformats.org/officeDocument/2006/relationships/officeDocument" Target="/ppt/presentation.xml" Id="R6876f6dd6448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ba2208d604a96"/>
  </p:sldMasterIdLst>
  <p:notesMasterIdLst>
    <p:notesMasterId xmlns:r="http://schemas.openxmlformats.org/officeDocument/2006/relationships" r:id="R41e067d653ce46d8"/>
  </p:notesMasterIdLst>
  <p:sldIdLst>
    <p:sldId xmlns:r="http://schemas.openxmlformats.org/officeDocument/2006/relationships" id="256" r:id="Re69d974135ee4f01"/>
    <p:sldId xmlns:r="http://schemas.openxmlformats.org/officeDocument/2006/relationships" id="257" r:id="Rcba7c4e9ae5b4966"/>
    <p:sldId xmlns:r="http://schemas.openxmlformats.org/officeDocument/2006/relationships" id="258" r:id="R3be6d9f8e80b441b"/>
    <p:sldId xmlns:r="http://schemas.openxmlformats.org/officeDocument/2006/relationships" id="259" r:id="R84ebecf023e94f65"/>
    <p:sldId xmlns:r="http://schemas.openxmlformats.org/officeDocument/2006/relationships" id="260" r:id="R582cfbecd41c4ebf"/>
    <p:sldId xmlns:r="http://schemas.openxmlformats.org/officeDocument/2006/relationships" id="261" r:id="Rb6231d9c58ed429c"/>
    <p:sldId xmlns:r="http://schemas.openxmlformats.org/officeDocument/2006/relationships" id="262" r:id="Re117dcf4623f4dc4"/>
    <p:sldId xmlns:r="http://schemas.openxmlformats.org/officeDocument/2006/relationships" id="263" r:id="R310f8a58eed64176"/>
    <p:sldId xmlns:r="http://schemas.openxmlformats.org/officeDocument/2006/relationships" id="264" r:id="Rf5d7d3dd9af142e2"/>
    <p:sldId xmlns:r="http://schemas.openxmlformats.org/officeDocument/2006/relationships" id="265" r:id="Rc8baad08d6ac4a45"/>
    <p:sldId xmlns:r="http://schemas.openxmlformats.org/officeDocument/2006/relationships" id="266" r:id="Rf3494a54e5224732"/>
    <p:sldId xmlns:r="http://schemas.openxmlformats.org/officeDocument/2006/relationships" id="267" r:id="Rafd9c1eae61946af"/>
    <p:sldId xmlns:r="http://schemas.openxmlformats.org/officeDocument/2006/relationships" id="268" r:id="R37f669fc5acf4078"/>
    <p:sldId xmlns:r="http://schemas.openxmlformats.org/officeDocument/2006/relationships" id="269" r:id="R3bc1aa5b361d447c"/>
    <p:sldId xmlns:r="http://schemas.openxmlformats.org/officeDocument/2006/relationships" id="270" r:id="Rb4d776fb97f344d9"/>
    <p:sldId xmlns:r="http://schemas.openxmlformats.org/officeDocument/2006/relationships" id="271" r:id="R8088b651d7944b31"/>
    <p:sldId xmlns:r="http://schemas.openxmlformats.org/officeDocument/2006/relationships" id="272" r:id="R3ff5baedf0f842b3"/>
    <p:sldId xmlns:r="http://schemas.openxmlformats.org/officeDocument/2006/relationships" id="273" r:id="Rd71e3af9848a40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25f7dee0b54404" /><Relationship Type="http://schemas.openxmlformats.org/officeDocument/2006/relationships/slideMaster" Target="/ppt/slideMasters/slideMaster1.xml" Id="Rca1ba2208d604a96" /><Relationship Type="http://schemas.openxmlformats.org/officeDocument/2006/relationships/notesMaster" Target="/ppt/notesMasters/notesMaster1.xml" Id="R41e067d653ce46d8" /><Relationship Type="http://schemas.openxmlformats.org/officeDocument/2006/relationships/presProps" Target="/ppt/presProps.xml" Id="Rc2418588139b4c95" /><Relationship Type="http://schemas.openxmlformats.org/officeDocument/2006/relationships/tableStyles" Target="/ppt/tableStyles.xml" Id="Rc7a34c53bb024f24" /><Relationship Type="http://schemas.openxmlformats.org/officeDocument/2006/relationships/slide" Target="/ppt/slides/slide1.xml" Id="Re69d974135ee4f01" /><Relationship Type="http://schemas.openxmlformats.org/officeDocument/2006/relationships/slide" Target="/ppt/slides/slide2.xml" Id="Rcba7c4e9ae5b4966" /><Relationship Type="http://schemas.openxmlformats.org/officeDocument/2006/relationships/slide" Target="/ppt/slides/slide3.xml" Id="R3be6d9f8e80b441b" /><Relationship Type="http://schemas.openxmlformats.org/officeDocument/2006/relationships/slide" Target="/ppt/slides/slide4.xml" Id="R84ebecf023e94f65" /><Relationship Type="http://schemas.openxmlformats.org/officeDocument/2006/relationships/slide" Target="/ppt/slides/slide5.xml" Id="R582cfbecd41c4ebf" /><Relationship Type="http://schemas.openxmlformats.org/officeDocument/2006/relationships/slide" Target="/ppt/slides/slide6.xml" Id="Rb6231d9c58ed429c" /><Relationship Type="http://schemas.openxmlformats.org/officeDocument/2006/relationships/slide" Target="/ppt/slides/slide7.xml" Id="Re117dcf4623f4dc4" /><Relationship Type="http://schemas.openxmlformats.org/officeDocument/2006/relationships/slide" Target="/ppt/slides/slide8.xml" Id="R310f8a58eed64176" /><Relationship Type="http://schemas.openxmlformats.org/officeDocument/2006/relationships/slide" Target="/ppt/slides/slide9.xml" Id="Rf5d7d3dd9af142e2" /><Relationship Type="http://schemas.openxmlformats.org/officeDocument/2006/relationships/slide" Target="/ppt/slides/slide10.xml" Id="Rc8baad08d6ac4a45" /><Relationship Type="http://schemas.openxmlformats.org/officeDocument/2006/relationships/slide" Target="/ppt/slides/slide11.xml" Id="Rf3494a54e5224732" /><Relationship Type="http://schemas.openxmlformats.org/officeDocument/2006/relationships/slide" Target="/ppt/slides/slide12.xml" Id="Rafd9c1eae61946af" /><Relationship Type="http://schemas.openxmlformats.org/officeDocument/2006/relationships/slide" Target="/ppt/slides/slide13.xml" Id="R37f669fc5acf4078" /><Relationship Type="http://schemas.openxmlformats.org/officeDocument/2006/relationships/slide" Target="/ppt/slides/slide14.xml" Id="R3bc1aa5b361d447c" /><Relationship Type="http://schemas.openxmlformats.org/officeDocument/2006/relationships/slide" Target="/ppt/slides/slide15.xml" Id="Rb4d776fb97f344d9" /><Relationship Type="http://schemas.openxmlformats.org/officeDocument/2006/relationships/slide" Target="/ppt/slides/slide16.xml" Id="R8088b651d7944b31" /><Relationship Type="http://schemas.openxmlformats.org/officeDocument/2006/relationships/slide" Target="/ppt/slides/slide17.xml" Id="R3ff5baedf0f842b3" /><Relationship Type="http://schemas.openxmlformats.org/officeDocument/2006/relationships/slide" Target="/ppt/slides/slide18.xml" Id="Rd71e3af9848a40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2fe87def5c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5dbcbc31d143c4" /><Relationship Type="http://schemas.openxmlformats.org/officeDocument/2006/relationships/notesMaster" Target="/ppt/notesMasters/notesMaster1.xml" Id="Ra506f5c7a89247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6b301892204259" /><Relationship Type="http://schemas.openxmlformats.org/officeDocument/2006/relationships/notesMaster" Target="/ppt/notesMasters/notesMaster1.xml" Id="R960f53f6d05b4a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b10067ad444e7e" /><Relationship Type="http://schemas.openxmlformats.org/officeDocument/2006/relationships/notesMaster" Target="/ppt/notesMasters/notesMaster1.xml" Id="Rff7350a19ef14b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64620a3abd4125" /><Relationship Type="http://schemas.openxmlformats.org/officeDocument/2006/relationships/notesMaster" Target="/ppt/notesMasters/notesMaster1.xml" Id="R11eb2e5e9a0b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0649867fe94fe0" /><Relationship Type="http://schemas.openxmlformats.org/officeDocument/2006/relationships/notesMaster" Target="/ppt/notesMasters/notesMaster1.xml" Id="R3d81ecd155ec43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6b966908d54e99" /><Relationship Type="http://schemas.openxmlformats.org/officeDocument/2006/relationships/notesMaster" Target="/ppt/notesMasters/notesMaster1.xml" Id="R41fff1efd3ee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ecf637fc204afe" /><Relationship Type="http://schemas.openxmlformats.org/officeDocument/2006/relationships/notesMaster" Target="/ppt/notesMasters/notesMaster1.xml" Id="R6a04961639f945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d0889ea59e49bc" /><Relationship Type="http://schemas.openxmlformats.org/officeDocument/2006/relationships/notesMaster" Target="/ppt/notesMasters/notesMaster1.xml" Id="R994ecffdb40040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4963fb84344b42" /><Relationship Type="http://schemas.openxmlformats.org/officeDocument/2006/relationships/notesMaster" Target="/ppt/notesMasters/notesMaster1.xml" Id="R0fe50fdef99045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4fde8a03514017" /><Relationship Type="http://schemas.openxmlformats.org/officeDocument/2006/relationships/notesMaster" Target="/ppt/notesMasters/notesMaster1.xml" Id="R073bf0fb7e0f48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13d66c210144d4" /><Relationship Type="http://schemas.openxmlformats.org/officeDocument/2006/relationships/notesMaster" Target="/ppt/notesMasters/notesMaster1.xml" Id="R242c6a959c2f46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26b4c9d84f4633" /><Relationship Type="http://schemas.openxmlformats.org/officeDocument/2006/relationships/notesMaster" Target="/ppt/notesMasters/notesMaster1.xml" Id="Rd8e02cf7a1d945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65a62f45d94357" /><Relationship Type="http://schemas.openxmlformats.org/officeDocument/2006/relationships/notesMaster" Target="/ppt/notesMasters/notesMaster1.xml" Id="R124d1caf4d764d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d18f2f2b7445bb" /><Relationship Type="http://schemas.openxmlformats.org/officeDocument/2006/relationships/notesMaster" Target="/ppt/notesMasters/notesMaster1.xml" Id="Ra0d561965ee04b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3500c28fc54e4f" /><Relationship Type="http://schemas.openxmlformats.org/officeDocument/2006/relationships/notesMaster" Target="/ppt/notesMasters/notesMaster1.xml" Id="R7ebf9d51e8354f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7c189554694bff" /><Relationship Type="http://schemas.openxmlformats.org/officeDocument/2006/relationships/notesMaster" Target="/ppt/notesMasters/notesMaster1.xml" Id="R2c79a68bc28b41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32a940b9cf406e" /><Relationship Type="http://schemas.openxmlformats.org/officeDocument/2006/relationships/notesMaster" Target="/ppt/notesMasters/notesMaster1.xml" Id="R65aecf1f2c024f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e2d8b1761a48ef" /><Relationship Type="http://schemas.openxmlformats.org/officeDocument/2006/relationships/notesMaster" Target="/ppt/notesMasters/notesMaster1.xml" Id="Rcf4e082713d24a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f9d0cb2fe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260668f074ea2" /><Relationship Type="http://schemas.openxmlformats.org/officeDocument/2006/relationships/slideLayout" Target="/ppt/slideLayouts/slideLayout1.xml" Id="Rc5a62040dd5245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a62040dd5245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bd82cef51468e" /><Relationship Type="http://schemas.openxmlformats.org/officeDocument/2006/relationships/notesSlide" Target="/ppt/notesSlides/notesSlide1.xml" Id="Rfe8480eb21ff46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026c7ce6d4593" /><Relationship Type="http://schemas.openxmlformats.org/officeDocument/2006/relationships/notesSlide" Target="/ppt/notesSlides/notesSlide2.xml" Id="R44bc18fb8bd244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22aafb8de4854" /><Relationship Type="http://schemas.openxmlformats.org/officeDocument/2006/relationships/notesSlide" Target="/ppt/notesSlides/notesSlide3.xml" Id="R66d16e41767744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30e08a5f4392" /><Relationship Type="http://schemas.openxmlformats.org/officeDocument/2006/relationships/notesSlide" Target="/ppt/notesSlides/notesSlide4.xml" Id="R860b5988aece4b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62e7efd084465" /><Relationship Type="http://schemas.openxmlformats.org/officeDocument/2006/relationships/notesSlide" Target="/ppt/notesSlides/notesSlide5.xml" Id="Rf59e2d6e942e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3e2a23e844813" /><Relationship Type="http://schemas.openxmlformats.org/officeDocument/2006/relationships/notesSlide" Target="/ppt/notesSlides/notesSlide6.xml" Id="Rb8a6a120a87c48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965e19ca148bd" /><Relationship Type="http://schemas.openxmlformats.org/officeDocument/2006/relationships/notesSlide" Target="/ppt/notesSlides/notesSlide7.xml" Id="Re0062ca695b943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ce2cd73f34622" /><Relationship Type="http://schemas.openxmlformats.org/officeDocument/2006/relationships/notesSlide" Target="/ppt/notesSlides/notesSlide8.xml" Id="R649eae6391164e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3ec2af13c4d6f" /><Relationship Type="http://schemas.openxmlformats.org/officeDocument/2006/relationships/notesSlide" Target="/ppt/notesSlides/notesSlide9.xml" Id="Rdf754cffd3ac44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0330e50154dfb" /><Relationship Type="http://schemas.openxmlformats.org/officeDocument/2006/relationships/notesSlide" Target="/ppt/notesSlides/notesSlide10.xml" Id="Rc004025cf41142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7f781c9a14205" /><Relationship Type="http://schemas.openxmlformats.org/officeDocument/2006/relationships/image" Target="/ppt/media/image.png" Id="R76c6a0ebd8ba43ff" /><Relationship Type="http://schemas.openxmlformats.org/officeDocument/2006/relationships/notesSlide" Target="/ppt/notesSlides/notesSlide11.xml" Id="Re552ccee6f774b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b4b36c5684223" /><Relationship Type="http://schemas.openxmlformats.org/officeDocument/2006/relationships/notesSlide" Target="/ppt/notesSlides/notesSlide12.xml" Id="R850ae9711a0f4f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a67b246c94320" /><Relationship Type="http://schemas.openxmlformats.org/officeDocument/2006/relationships/image" Target="/ppt/media/image2.png" Id="Rf156713d391c48ad" /><Relationship Type="http://schemas.openxmlformats.org/officeDocument/2006/relationships/notesSlide" Target="/ppt/notesSlides/notesSlide13.xml" Id="R3afa75e0095240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d098d2bb94b61" /><Relationship Type="http://schemas.openxmlformats.org/officeDocument/2006/relationships/notesSlide" Target="/ppt/notesSlides/notesSlide14.xml" Id="R1a165db37af64f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50e207e714a31" /><Relationship Type="http://schemas.openxmlformats.org/officeDocument/2006/relationships/notesSlide" Target="/ppt/notesSlides/notesSlide15.xml" Id="R1784ce131ad547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1ccc029334b4f" /><Relationship Type="http://schemas.openxmlformats.org/officeDocument/2006/relationships/notesSlide" Target="/ppt/notesSlides/notesSlide16.xml" Id="Rdd3cb5717be04c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d5030744a4a24" /><Relationship Type="http://schemas.openxmlformats.org/officeDocument/2006/relationships/notesSlide" Target="/ppt/notesSlides/notesSlide17.xml" Id="Rdea49415749b41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069860a1a443f" /><Relationship Type="http://schemas.openxmlformats.org/officeDocument/2006/relationships/notesSlide" Target="/ppt/notesSlides/notesSlide18.xml" Id="Ra6334c3b2ba6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227FB-B2C4-4AD4-B681-BC57FD0B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5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2E82B-EBE7-4E32-A9F5-2129B2D1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D9"/>
                </a:solidFill>
              </a:defRPr>
            </a:pPr>
            <a:r>
              <a:rPr sz="1350" b="1">
                <a:solidFill>
                  <a:srgbClr val="84D6D9"/>
                </a:solidFill>
              </a:rPr>
              <a:t>PYTHON 資料分析實戰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0DEAD-7531-4C43-8DAA-43253323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Lesson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F506F-3F39-4242-ACD7-3619237C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環境建置與第一個 Python 程式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2A02E-3F59-4C95-9343-35D190F2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4D6D9"/>
                </a:solidFill>
              </a:defRPr>
            </a:pPr>
            <a:r>
              <a:rPr sz="1800" b="0">
                <a:solidFill>
                  <a:srgbClr val="84D6D9"/>
                </a:solidFill>
              </a:rPr>
              <a:t>Anaconda · JupyterLab ·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ECFD4-7B92-4AC2-8353-2E81C15C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JW｜課程講師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EA576-A1A1-420B-A2B4-CFBBF4C5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3350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E3F14-4CFB-4CDE-BA4D-F6E6D688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&gt;_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AED03-607B-4705-BE7A-8DAFA259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239"/>
                </a:solidFill>
              </a:defRPr>
            </a:pPr>
            <a:r>
              <a:rPr sz="1350" b="1">
                <a:solidFill>
                  <a:srgbClr val="0B2239"/>
                </a:solidFill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714211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F2725-77B3-4580-863B-CD80EA50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54B20-55BC-42F8-93FA-53604F84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開課說明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F70D2-131D-4F68-959D-0368F20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今天先把上課方式與工具準備好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E84AD-4006-4A09-9C01-2506216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C049C-2A0B-4907-B4D5-2EBD69F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FF457-269A-4486-B45A-BE9F42F3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確認教材取得方式、出席與作業規則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AF620-EE99-4571-A509-30AD68BA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AADB6-5FC4-4A91-88DC-1EC2763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認識講師、同學與這門課的學習目標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5AA79-ED30-4166-A0A4-2163A8DD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D324C-BB74-4625-ADED-3FC13DD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完成 Anaconda 與 JupyterLab 安裝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9C923-15EB-4B06-86A7-4E2E244C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CF95F-8253-4148-B8A4-1A85E9D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成功執行第一行 Python 程式</a:t>
            </a:r>
          </a:p>
        </p:txBody>
      </p:sp>
    </p:spTree>
    <p:extLst>
      <p:ext uri="{BB962C8B-B14F-4D97-AF65-F5344CB8AC3E}">
        <p14:creationId xmlns:p14="http://schemas.microsoft.com/office/powerpoint/2010/main" val="58621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F221A-1CBE-4E92-B68F-8DA33BD3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C50A8-A9EE-4F77-9E59-1DA83001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認識彼此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A9580-E95F-4FD1-AF3F-2C87F43B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講師介紹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40286-6E19-4679-9DF3-0B05632B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949A9-52E3-42D3-81E2-2EAD8EE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571750" cy="31432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E0CA4-1437-4607-9509-5C2D12BE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JW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E791B-E711-4CEB-9AD0-DC44E6F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D6D9"/>
                </a:solidFill>
              </a:defRPr>
            </a:pPr>
            <a:r>
              <a:rPr sz="1650" b="1">
                <a:solidFill>
                  <a:srgbClr val="84D6D9"/>
                </a:solidFill>
              </a:rPr>
              <a:t>課程講師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43901-256C-4FC2-86ED-950FE08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Python 教學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E4B61-759F-4F26-8D3E-1AFB4F55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資料分析與實務應用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3128F-99E7-4724-A3F5-4663F12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專案導向學習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25208-5A3F-4610-B3FE-E81FB937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96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課堂重點：先理解、再動手、最後做出作品</a:t>
            </a:r>
          </a:p>
        </p:txBody>
      </p:sp>
    </p:spTree>
    <p:extLst>
      <p:ext uri="{BB962C8B-B14F-4D97-AF65-F5344CB8AC3E}">
        <p14:creationId xmlns:p14="http://schemas.microsoft.com/office/powerpoint/2010/main" val="1445495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B07AB-DF8C-4DF9-A9D7-35E9E0A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5E2C0-4045-4604-9DFA-794643E1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課程地圖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372F6-868E-40AE-B40F-446B2FD9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21 堂課，最後完成一份可展示的分析作品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85D4D-7732-4D2D-B0C5-2248A18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C0BD8-9283-4263-8E32-BB5886E5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9525">
            <a:solidFill>
              <a:srgbClr val="1F9A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A9B1A-94E5-4F2E-8C8F-32161BE2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9E98E-540C-41E2-8E15-2727CC9B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Python 基礎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ACC13-B9E3-437E-9E11-D18E8771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4F5"/>
                </a:solidFill>
              </a:defRPr>
            </a:pPr>
            <a:r>
              <a:rPr sz="1275" b="0">
                <a:solidFill>
                  <a:srgbClr val="E8F4F5"/>
                </a:solidFill>
              </a:rPr>
              <a:t>L01–L07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A4609-9C6A-4FF9-88DD-822B8571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8D30A-E5E4-4952-8372-1A14D7F1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F9AA5"/>
                </a:solidFill>
              </a:defRPr>
            </a:pPr>
            <a:r>
              <a:rPr sz="3150" b="1">
                <a:solidFill>
                  <a:srgbClr val="1F9AA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CC2C5-6020-4A9F-9AD2-6FFAEA4C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</a:defRPr>
            </a:pPr>
            <a:r>
              <a:rPr sz="1875" b="1">
                <a:solidFill>
                  <a:srgbClr val="0B2239"/>
                </a:solidFill>
              </a:rPr>
              <a:t>資料處理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8EB62-3BDC-4427-8B36-B3A0A2E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29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1"/>
                </a:solidFill>
              </a:defRPr>
            </a:pPr>
            <a:r>
              <a:rPr sz="1275" b="0">
                <a:solidFill>
                  <a:srgbClr val="536271"/>
                </a:solidFill>
              </a:rPr>
              <a:t>L08–L11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3FD47-0F8E-4750-8D42-5658F316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5CA77-8591-48DD-8170-A817C68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F9AA5"/>
                </a:solidFill>
              </a:defRPr>
            </a:pPr>
            <a:r>
              <a:rPr sz="3150" b="1">
                <a:solidFill>
                  <a:srgbClr val="1F9AA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1809E-ABC4-4E8A-998B-3D3F929E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</a:defRPr>
            </a:pPr>
            <a:r>
              <a:rPr sz="1875" b="1">
                <a:solidFill>
                  <a:srgbClr val="0B2239"/>
                </a:solidFill>
              </a:rPr>
              <a:t>分析與圖表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24615-B704-491F-94B1-8824242B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1"/>
                </a:solidFill>
              </a:defRPr>
            </a:pPr>
            <a:r>
              <a:rPr sz="1275" b="0">
                <a:solidFill>
                  <a:srgbClr val="536271"/>
                </a:solidFill>
              </a:rPr>
              <a:t>L12–L16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35091-5044-43B9-9742-C0476265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75B49-15B9-4EAF-9F3D-89981600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F9AA5"/>
                </a:solidFill>
              </a:defRPr>
            </a:pPr>
            <a:r>
              <a:rPr sz="3150" b="1">
                <a:solidFill>
                  <a:srgbClr val="1F9AA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CE895-9223-46B2-8968-C68F3EB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</a:defRPr>
            </a:pPr>
            <a:r>
              <a:rPr sz="1875" b="1">
                <a:solidFill>
                  <a:srgbClr val="0B2239"/>
                </a:solidFill>
              </a:rPr>
              <a:t>專題發表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DB0D1-24DA-41D1-9842-BAFFB60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29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1"/>
                </a:solidFill>
              </a:defRPr>
            </a:pPr>
            <a:r>
              <a:rPr sz="1275" b="0">
                <a:solidFill>
                  <a:srgbClr val="536271"/>
                </a:solidFill>
              </a:rPr>
              <a:t>L17–L21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E047A-CD6A-4FBA-8BBE-B3863855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911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</a:defRPr>
            </a:pPr>
            <a:r>
              <a:rPr sz="1875" b="1">
                <a:solidFill>
                  <a:srgbClr val="0B2239"/>
                </a:solidFill>
              </a:rPr>
              <a:t>今天的任務：把第一階段的工具準備完成</a:t>
            </a:r>
          </a:p>
        </p:txBody>
      </p:sp>
    </p:spTree>
    <p:extLst>
      <p:ext uri="{BB962C8B-B14F-4D97-AF65-F5344CB8AC3E}">
        <p14:creationId xmlns:p14="http://schemas.microsoft.com/office/powerpoint/2010/main" val="1426531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74A1-CA65-48BA-ABA8-3E89BEC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98D5-8F52-4957-8588-CD9A9DE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學習方式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46D4-A610-410F-8F96-1AE4C47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學會程式的關鍵：每次都親手執行與修改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D9CC-5D88-4EAD-9A43-A056E3B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9A262-A5DE-492A-A094-D9F37847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2703-14BC-4D15-A412-E0E3BC4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看懂範例後，自己重新執行一次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7EB9D-A6B0-4BEB-891A-EF273F9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10C2E-5820-43F2-8AB5-799F371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修改文字或數字，觀察輸出有什麼變化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31E7A-28E8-41F6-A7FC-120BF221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E8F9B-A4C9-4778-94CF-94FDDA7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遇到錯誤先讀最後一行，再向老師求助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5B500-2B7C-4DD7-836E-09F6279A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C2CA-8000-43F1-8A81-A29D592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不必死背語法，但要能說明程式在做什麼</a:t>
            </a:r>
          </a:p>
        </p:txBody>
      </p:sp>
    </p:spTree>
    <p:extLst>
      <p:ext uri="{BB962C8B-B14F-4D97-AF65-F5344CB8AC3E}">
        <p14:creationId xmlns:p14="http://schemas.microsoft.com/office/powerpoint/2010/main" val="1940456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7B01A-A47E-45E9-86AD-23F097E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614AE-DC24-4AC7-B8F9-13ED1B9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為什麼是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7B404-FD80-45A3-AE21-A7714C6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Python 讓重複工作可以被保存、修改與重跑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3CE7-4513-4070-8073-1BD7C907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AE12-B977-4149-A987-DDD44CA0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資料整理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0AE33-CBA0-4F3E-9377-A667982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分析報表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3D2FC-480E-43C4-9AF6-504505B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工作自動化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1BAC3-65D7-4E42-AB5E-E96A97D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D474C-6B10-4243-B159-F4FA475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72FA-68A7-40C4-89DC-630B3692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0EE58-A533-439D-968F-B639197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EDC99-7544-4450-97E8-3EAC3773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計算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99F2-AD3A-4654-B785-A7B12E36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重跑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DE52D-4937-4AC1-92DA-97D3040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36271"/>
                </a:solidFill>
              </a:defRPr>
            </a:pPr>
            <a:r>
              <a:rPr sz="1800" b="0">
                <a:solidFill>
                  <a:srgbClr val="536271"/>
                </a:solidFill>
              </a:rPr>
              <a:t>先不用學所有應用；今天只需要把工具發動起來。</a:t>
            </a:r>
          </a:p>
        </p:txBody>
      </p:sp>
    </p:spTree>
    <p:extLst>
      <p:ext uri="{BB962C8B-B14F-4D97-AF65-F5344CB8AC3E}">
        <p14:creationId xmlns:p14="http://schemas.microsoft.com/office/powerpoint/2010/main" val="1391618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1CAE4-187A-4F0A-9022-7437844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5A867-3276-404D-8C24-77366B3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工具關係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E0D9-D661-4469-9627-C8C6985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Anaconda 準備環境，JupyterLab 是我們的工作桌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14BAF-B825-4761-B241-2C3115F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6AAA-3079-4B02-B281-1758AB3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58611-4227-4A38-8E90-BBB8784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2239"/>
                </a:solidFill>
              </a:defRPr>
            </a:pPr>
            <a:r>
              <a:rPr sz="2700" b="1">
                <a:solidFill>
                  <a:srgbClr val="0B2239"/>
                </a:solidFill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C7938-2E5C-44A1-AE79-D6E1E2C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執行程式的核心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D244E-6575-40A7-B5EE-DBC5E38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6D3C-2493-4D9A-9D05-D6265A35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6D736-0200-4904-9249-1832206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Anaconda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0854D-6428-40C1-8252-CF860CC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安裝與管理工具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BB7C4-C169-40C9-ACFD-C5D406D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800B-2D00-47E3-AA5A-F5DD7D3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B932D-54B2-4945-B9F3-C155C92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JupyterLab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E76B3-E66C-4374-B24B-91C18AC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8F4F5"/>
                </a:solidFill>
              </a:defRPr>
            </a:pPr>
            <a:r>
              <a:rPr sz="1500" b="0">
                <a:solidFill>
                  <a:srgbClr val="E8F4F5"/>
                </a:solidFill>
              </a:rPr>
              <a:t>寫程式與做筆記</a:t>
            </a:r>
          </a:p>
        </p:txBody>
      </p:sp>
    </p:spTree>
    <p:extLst>
      <p:ext uri="{BB962C8B-B14F-4D97-AF65-F5344CB8AC3E}">
        <p14:creationId xmlns:p14="http://schemas.microsoft.com/office/powerpoint/2010/main" val="778389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E990D-1874-4524-A96F-1EFA3A69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4A92E-2E51-4606-9EDA-112FA6EC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環境建置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7DE7F-D087-4B2A-8633-BC508E0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安裝前先確認三件事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B12E9-F2CB-49EB-AF10-BB4A5E5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0CC05-7172-4642-9F5B-30B1DBA4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5F332-7B3B-40C5-AF91-1940670C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筆電接上電源，並保持網路連線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5870B-7881-4637-8631-F3BA9A3A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28709-2125-4DFB-82DD-768184E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使用自己可管理的電腦帳號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5DE22-6308-4D9E-AA28-AAD8FBB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2DE03-7068-41CB-81FF-0153E56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磁碟保留足夠空間，安裝過程不要關機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52829-D13C-4A89-A84E-8DAC625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C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78D74-C19C-44E2-833C-AAFFA93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435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遇到不同畫面先停下來，請老師協助，不要連續按下一步。</a:t>
            </a:r>
          </a:p>
        </p:txBody>
      </p:sp>
    </p:spTree>
    <p:extLst>
      <p:ext uri="{BB962C8B-B14F-4D97-AF65-F5344CB8AC3E}">
        <p14:creationId xmlns:p14="http://schemas.microsoft.com/office/powerpoint/2010/main" val="1788113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928B-E337-4743-86DF-26A9CECC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72B74-C036-4D4C-BED1-24901CCF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安裝步驟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A86C6-0887-42BE-8895-113A9DA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只從 Anaconda 官方網站下載安裝程式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70886-86BA-40DD-9B49-6FDBC0A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63A5-DBFA-4BF1-9C60-3D1E59F4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anaconda.com/download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7D34F-8583-433B-B4A1-D92A9842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857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DA6A4-C229-447A-B4E8-9C544E7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04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2239"/>
                </a:solidFill>
              </a:defRPr>
            </a:pPr>
            <a:r>
              <a:rPr sz="2025" b="1">
                <a:solidFill>
                  <a:srgbClr val="0B2239"/>
                </a:solidFill>
              </a:rPr>
              <a:t>選擇自己的作業系統與晶片版本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B20FB-1566-4CE1-9915-AE0A4AC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Windows 64-bit ／ macOS Apple Silicon 或 Intel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93768-661F-4EC1-B180-807B46C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4B50"/>
                </a:solidFill>
              </a:defRPr>
            </a:pPr>
            <a:r>
              <a:rPr sz="1650" b="1">
                <a:solidFill>
                  <a:srgbClr val="C74B50"/>
                </a:solidFill>
              </a:rPr>
              <a:t>不要從不明下載站取得安裝檔</a:t>
            </a:r>
          </a:p>
        </p:txBody>
      </p:sp>
    </p:spTree>
    <p:extLst>
      <p:ext uri="{BB962C8B-B14F-4D97-AF65-F5344CB8AC3E}">
        <p14:creationId xmlns:p14="http://schemas.microsoft.com/office/powerpoint/2010/main" val="1055372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93321-73C1-425A-ACD3-1D738C9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444B-01BF-4A4B-8944-EE903C1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安裝步驟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6091-3DEF-464B-8B37-A611337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安裝選項以穩定、容易移除為原則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7EE8-AD53-4B72-BA9D-410A350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9F911-D622-4FA5-A6AA-267AE7B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B0691-40AC-4384-8469-D33BE5A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FA900-3FA5-466B-BEEC-8512E30E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選擇 Just Me</a:t>
            </a:r>
          </a:p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使用預設安裝位置</a:t>
            </a:r>
          </a:p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不加入 PATH</a:t>
            </a:r>
          </a:p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不使用系統管理員安裝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CFB57-94D3-417E-B292-7095704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64DC8-4BC7-439B-9302-C372EAE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macOS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22B6-8526-4A06-96D7-A1390F1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選擇正確晶片版本</a:t>
            </a:r>
          </a:p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依安裝精靈完成設定</a:t>
            </a:r>
          </a:p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若系統要求，輸入電腦密碼</a:t>
            </a:r>
          </a:p>
          <a:p xmlns:a="http://schemas.openxmlformats.org/drawingml/2006/main">
            <a:pPr algn="l"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✓ 安裝後開啟 Navigator</a:t>
            </a:r>
          </a:p>
        </p:txBody>
      </p:sp>
    </p:spTree>
    <p:extLst>
      <p:ext uri="{BB962C8B-B14F-4D97-AF65-F5344CB8AC3E}">
        <p14:creationId xmlns:p14="http://schemas.microsoft.com/office/powerpoint/2010/main" val="10688281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FBF21-69D5-4980-81F6-0359EA5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2837-8EC9-4B0A-9F76-8C1B31C8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安裝步驟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E3B13-F189-41D8-83BE-65818EF7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安裝完成後，從 Navigator 啟動 JupyterLab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2CF13-A684-437A-9E72-7FEF9F3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6a0ebd8ba43ff"/>
          <a:stretch xmlns:a="http://schemas.openxmlformats.org/drawingml/2006/main"/>
        </p:blipFill>
        <p:spPr>
          <a:xfrm xmlns:a="http://schemas.openxmlformats.org/drawingml/2006/main">
            <a:off x="1039742" y="1666875"/>
            <a:ext cx="6874015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3AE96-D7F0-47B4-8C57-7B1301D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571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299DC-615F-46B1-A669-F770BEF9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找到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JupyterLab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F9CCB-41DD-4179-A32F-28758A0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F4F5"/>
                </a:solidFill>
              </a:defRPr>
            </a:pPr>
            <a:r>
              <a:rPr sz="1800" b="1">
                <a:solidFill>
                  <a:srgbClr val="E8F4F5"/>
                </a:solidFill>
              </a:rPr>
              <a:t>按下 Launch</a:t>
            </a:r>
          </a:p>
        </p:txBody>
      </p:sp>
    </p:spTree>
    <p:extLst>
      <p:ext uri="{BB962C8B-B14F-4D97-AF65-F5344CB8AC3E}">
        <p14:creationId xmlns:p14="http://schemas.microsoft.com/office/powerpoint/2010/main" val="19258726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16DC5-4F1D-4CF5-9D76-1B9BDD10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FE8DB-E3E1-4584-BB1C-5F37F92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啟動提醒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6831C-8781-4E70-94C4-EFA164E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第一次啟動需要一點時間，先不要重複點擊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CEA7-2959-4491-B486-CCBCF92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46A3-90E1-43AF-879E-0755E3C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876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13AEB-12AD-435B-AE84-7E9D42CB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146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Launch → 等待 → 瀏覽器開啟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AD7C5-BA28-4AA0-8662-E48330C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4D6D9"/>
                </a:solidFill>
              </a:defRPr>
            </a:pPr>
            <a:r>
              <a:rPr sz="1650" b="0">
                <a:solidFill>
                  <a:srgbClr val="84D6D9"/>
                </a:solidFill>
              </a:rPr>
              <a:t>若超過數分鐘仍沒有畫面，再請老師檢查。</a:t>
            </a:r>
          </a:p>
        </p:txBody>
      </p:sp>
    </p:spTree>
    <p:extLst>
      <p:ext uri="{BB962C8B-B14F-4D97-AF65-F5344CB8AC3E}">
        <p14:creationId xmlns:p14="http://schemas.microsoft.com/office/powerpoint/2010/main" val="1667864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846B8-C549-487C-A3A3-504FABB2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0BFEC-8B11-4352-A123-8CD610D1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認識介面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62792-285E-46B8-8CD4-1090EC2C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JupyterLab 左邊找檔案，中間寫程式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25EB8-46E2-4503-AF9F-E59D47C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6713d391c48ad"/>
          <a:stretch xmlns:a="http://schemas.openxmlformats.org/drawingml/2006/main"/>
        </p:blipFill>
        <p:spPr>
          <a:xfrm xmlns:a="http://schemas.openxmlformats.org/drawingml/2006/main">
            <a:off x="2286000" y="1571625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36C26-82C6-4545-A17F-86BFAEFF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9AA5"/>
                </a:solidFill>
              </a:defRPr>
            </a:pPr>
            <a:r>
              <a:rPr sz="1275" b="1">
                <a:solidFill>
                  <a:srgbClr val="1F9AA5"/>
                </a:solidFill>
              </a:rPr>
              <a:t>檔案瀏覽區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35B91-F313-41E0-A662-4B90BDA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9AA5"/>
                </a:solidFill>
              </a:defRPr>
            </a:pPr>
            <a:r>
              <a:rPr sz="1275" b="1">
                <a:solidFill>
                  <a:srgbClr val="1F9AA5"/>
                </a:solidFill>
              </a:rPr>
              <a:t>Notebook 工作區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23F0C-D554-47D9-97E6-9C9E88A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9AA5"/>
                </a:solidFill>
              </a:defRPr>
            </a:pPr>
            <a:r>
              <a:rPr sz="1275" b="1">
                <a:solidFill>
                  <a:srgbClr val="1F9AA5"/>
                </a:solidFill>
              </a:rPr>
              <a:t>選單與工具列</a:t>
            </a:r>
          </a:p>
        </p:txBody>
      </p:sp>
    </p:spTree>
    <p:extLst>
      <p:ext uri="{BB962C8B-B14F-4D97-AF65-F5344CB8AC3E}">
        <p14:creationId xmlns:p14="http://schemas.microsoft.com/office/powerpoint/2010/main" val="1563701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AE87D-3233-4225-B198-B362DB32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EA08E-D439-4CC2-BECE-590464CD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Notebook 基礎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4A75B-ED97-4B55-A2C0-F1554F31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Notebook 把說明、程式與結果放在同一份檔案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06BA7-9909-42E5-A5AE-EAA93C5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A2008-4B94-4427-9436-E82974E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7DD3A-F515-423B-B647-FAC17BE5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Code Cell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BDD78-2C27-45D5-AB13-F850AF2B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寫 Python 程式</a:t>
            </a:r>
          </a:p>
          <a:p xmlns:a="http://schemas.openxmlformats.org/drawingml/2006/main">
            <a:pPr algn="l"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執行後顯示結果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D0F98-6A17-4B8B-8A96-42CFD35E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1593D-1635-4E5D-A3C7-5FEF6E82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Markdown Cell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454FA-3372-4723-84EB-176C0F5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寫標題與筆記</a:t>
            </a:r>
          </a:p>
          <a:p xmlns:a="http://schemas.openxmlformats.org/drawingml/2006/main">
            <a:pPr algn="l"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不會當作程式執行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84F44-D155-44C7-8C06-042BD2D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86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副檔名：.ipynb</a:t>
            </a:r>
          </a:p>
        </p:txBody>
      </p:sp>
    </p:spTree>
    <p:extLst>
      <p:ext uri="{BB962C8B-B14F-4D97-AF65-F5344CB8AC3E}">
        <p14:creationId xmlns:p14="http://schemas.microsoft.com/office/powerpoint/2010/main" val="944044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95076-F1DD-46C9-AFA6-4615A94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13601-2D42-42AA-AFD8-5737E4D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第一個快捷鍵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39A3-56B4-4DFE-B8A7-2EFDA42D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Shift + Enter：執行目前的 Cell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10DF5-AD97-4675-9A48-97A4A27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27BA-CEE8-46D7-A57E-0E38ABA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8001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91DC-A97B-4734-A642-3543B795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14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26C36-1247-47F3-89D7-203FB644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84D6D9"/>
                </a:solidFill>
              </a:defRPr>
            </a:pPr>
            <a:r>
              <a:rPr sz="3150" b="1">
                <a:solidFill>
                  <a:srgbClr val="84D6D9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099EF-E226-462B-A8F5-B064109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3FE8-E659-4DD1-9BB1-E2A1330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36271"/>
                </a:solidFill>
              </a:defRPr>
            </a:pPr>
            <a:r>
              <a:rPr sz="1875" b="0">
                <a:solidFill>
                  <a:srgbClr val="536271"/>
                </a:solidFill>
              </a:rPr>
              <a:t>執行後會移到下一個 Cell</a:t>
            </a:r>
          </a:p>
        </p:txBody>
      </p:sp>
    </p:spTree>
    <p:extLst>
      <p:ext uri="{BB962C8B-B14F-4D97-AF65-F5344CB8AC3E}">
        <p14:creationId xmlns:p14="http://schemas.microsoft.com/office/powerpoint/2010/main" val="369534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1E2E0-0DD6-4239-BEAD-0696C5AB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75F0-983B-4AB5-A23C-4493E1F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動手操作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0527-114F-42DB-AC42-EC10CE02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第一個 Python 程式：讓電腦顯示文字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55339-02C1-4B5C-969D-54677D99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AC354-BEC1-438F-86E0-C3DCA69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52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4DCDB-91D1-44F9-9745-8A565CA7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43175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print("Hello, Python!")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2790A-D7F9-4E54-8E26-366577F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</a:defRPr>
            </a:pPr>
            <a:r>
              <a:rPr sz="1875" b="1">
                <a:solidFill>
                  <a:srgbClr val="0B2239"/>
                </a:solidFill>
              </a:rPr>
              <a:t>輸入完成後按 Shift +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6B63-4E73-4B03-BA82-F4277A57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看到 Hello, Python! 就代表環境成功。</a:t>
            </a:r>
          </a:p>
        </p:txBody>
      </p:sp>
    </p:spTree>
    <p:extLst>
      <p:ext uri="{BB962C8B-B14F-4D97-AF65-F5344CB8AC3E}">
        <p14:creationId xmlns:p14="http://schemas.microsoft.com/office/powerpoint/2010/main" val="262271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4F33-1979-4E14-9397-6CB7EBE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189A1-0089-40AA-8A28-AD24AF9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完成檢查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5B2DF-125B-4567-95E6-B3C368B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下課前完成環境確認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BFF0-5A73-4490-B440-893FC59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49D8-89CD-46D4-B227-C4F0421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5B366-00DC-4098-B8F7-094DB12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可以開啟 Anaconda Navigator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C2F95-FDD3-4F84-804B-25BFA7A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37B5-5B8A-4871-9FC3-4962C01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可以從 Navigator 啟動 JupyterLab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C3813-6D1F-48D0-8C9E-ADDFD66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C6935-F5FB-4F10-9927-7003523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38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可以建立或開啟 Notebook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E41C-D9FE-4793-A513-7CFF8056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043F9-CDA4-4D6A-B87F-9226C5E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可以用 Shift + Enter 執行 print</a:t>
            </a:r>
          </a:p>
        </p:txBody>
      </p:sp>
    </p:spTree>
    <p:extLst>
      <p:ext uri="{BB962C8B-B14F-4D97-AF65-F5344CB8AC3E}">
        <p14:creationId xmlns:p14="http://schemas.microsoft.com/office/powerpoint/2010/main" val="7317373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49DB8-4430-4AE9-83CE-C433ED77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今天完成的不是一堆語法，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9463-C063-430F-A225-6FD6796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84D6D9"/>
                </a:solidFill>
              </a:defRPr>
            </a:pPr>
            <a:r>
              <a:rPr sz="3150" b="1">
                <a:solidFill>
                  <a:srgbClr val="84D6D9"/>
                </a:solidFill>
              </a:rPr>
              <a:t>而是一套可以持續練習的 Python 環境。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DDF25-D814-4F9D-9361-4D89468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E759-7DDC-4E62-97DB-38EF8BA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719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下一堂：變數、型別與運算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ABAAA-5C15-44E7-9354-AB7DD93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請保留安裝完成的電腦與課程資料夾</a:t>
            </a:r>
          </a:p>
        </p:txBody>
      </p:sp>
    </p:spTree>
    <p:extLst>
      <p:ext uri="{BB962C8B-B14F-4D97-AF65-F5344CB8AC3E}">
        <p14:creationId xmlns:p14="http://schemas.microsoft.com/office/powerpoint/2010/main" val="1065007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2026-07-17T08:45:17.2800000Z</dcterms:created>
  <dcterms:modified xsi:type="dcterms:W3CDTF">2026-07-17T08:45:17.2800000Z</dcterms:modified>
</coreProperties>
</file>