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9520809ac64ccd" /><Relationship Type="http://schemas.openxmlformats.org/officeDocument/2006/relationships/extended-properties" Target="/docProps/app.xml" Id="R961558e8a4fa465c" /><Relationship Type="http://schemas.openxmlformats.org/officeDocument/2006/relationships/officeDocument" Target="/ppt/presentation.xml" Id="Rc3874033614041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c7a88e05e84dbb"/>
  </p:sldMasterIdLst>
  <p:notesMasterIdLst>
    <p:notesMasterId xmlns:r="http://schemas.openxmlformats.org/officeDocument/2006/relationships" r:id="R241fbb75231b4d62"/>
  </p:notesMasterIdLst>
  <p:sldIdLst>
    <p:sldId xmlns:r="http://schemas.openxmlformats.org/officeDocument/2006/relationships" id="256" r:id="R5c97b6131e604bd3"/>
    <p:sldId xmlns:r="http://schemas.openxmlformats.org/officeDocument/2006/relationships" id="257" r:id="R684d1e45f87441a9"/>
    <p:sldId xmlns:r="http://schemas.openxmlformats.org/officeDocument/2006/relationships" id="258" r:id="Rdccba7d9f31248f4"/>
    <p:sldId xmlns:r="http://schemas.openxmlformats.org/officeDocument/2006/relationships" id="259" r:id="Rab1dde958c324098"/>
    <p:sldId xmlns:r="http://schemas.openxmlformats.org/officeDocument/2006/relationships" id="260" r:id="R8cad1f96c9bf4392"/>
    <p:sldId xmlns:r="http://schemas.openxmlformats.org/officeDocument/2006/relationships" id="261" r:id="R3cec62c7d2d14f92"/>
    <p:sldId xmlns:r="http://schemas.openxmlformats.org/officeDocument/2006/relationships" id="262" r:id="Rbea3ff8171b742b9"/>
    <p:sldId xmlns:r="http://schemas.openxmlformats.org/officeDocument/2006/relationships" id="263" r:id="R1e33cc99e1044e39"/>
    <p:sldId xmlns:r="http://schemas.openxmlformats.org/officeDocument/2006/relationships" id="264" r:id="Rd77ccac2f57a4c58"/>
    <p:sldId xmlns:r="http://schemas.openxmlformats.org/officeDocument/2006/relationships" id="265" r:id="R661bdb3b3ace4540"/>
    <p:sldId xmlns:r="http://schemas.openxmlformats.org/officeDocument/2006/relationships" id="266" r:id="R152b359ae1f544b5"/>
    <p:sldId xmlns:r="http://schemas.openxmlformats.org/officeDocument/2006/relationships" id="267" r:id="R4063ccbbf4d24f17"/>
    <p:sldId xmlns:r="http://schemas.openxmlformats.org/officeDocument/2006/relationships" id="268" r:id="R30a1ab588b864dd8"/>
    <p:sldId xmlns:r="http://schemas.openxmlformats.org/officeDocument/2006/relationships" id="269" r:id="R395f75fc224043a3"/>
    <p:sldId xmlns:r="http://schemas.openxmlformats.org/officeDocument/2006/relationships" id="270" r:id="Rf361841512ec45ec"/>
    <p:sldId xmlns:r="http://schemas.openxmlformats.org/officeDocument/2006/relationships" id="271" r:id="R829259d61021468e"/>
    <p:sldId xmlns:r="http://schemas.openxmlformats.org/officeDocument/2006/relationships" id="272" r:id="R909e9509863944f7"/>
    <p:sldId xmlns:r="http://schemas.openxmlformats.org/officeDocument/2006/relationships" id="273" r:id="Rb1c42f7cb4cc4d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4c05071b324400" /><Relationship Type="http://schemas.openxmlformats.org/officeDocument/2006/relationships/slideMaster" Target="/ppt/slideMasters/slideMaster1.xml" Id="R36c7a88e05e84dbb" /><Relationship Type="http://schemas.openxmlformats.org/officeDocument/2006/relationships/notesMaster" Target="/ppt/notesMasters/notesMaster1.xml" Id="R241fbb75231b4d62" /><Relationship Type="http://schemas.openxmlformats.org/officeDocument/2006/relationships/presProps" Target="/ppt/presProps.xml" Id="R8adbdf6d767448d2" /><Relationship Type="http://schemas.openxmlformats.org/officeDocument/2006/relationships/tableStyles" Target="/ppt/tableStyles.xml" Id="R06c7aef93a3545dc" /><Relationship Type="http://schemas.openxmlformats.org/officeDocument/2006/relationships/slide" Target="/ppt/slides/slide1.xml" Id="R5c97b6131e604bd3" /><Relationship Type="http://schemas.openxmlformats.org/officeDocument/2006/relationships/slide" Target="/ppt/slides/slide2.xml" Id="R684d1e45f87441a9" /><Relationship Type="http://schemas.openxmlformats.org/officeDocument/2006/relationships/slide" Target="/ppt/slides/slide3.xml" Id="Rdccba7d9f31248f4" /><Relationship Type="http://schemas.openxmlformats.org/officeDocument/2006/relationships/slide" Target="/ppt/slides/slide4.xml" Id="Rab1dde958c324098" /><Relationship Type="http://schemas.openxmlformats.org/officeDocument/2006/relationships/slide" Target="/ppt/slides/slide5.xml" Id="R8cad1f96c9bf4392" /><Relationship Type="http://schemas.openxmlformats.org/officeDocument/2006/relationships/slide" Target="/ppt/slides/slide6.xml" Id="R3cec62c7d2d14f92" /><Relationship Type="http://schemas.openxmlformats.org/officeDocument/2006/relationships/slide" Target="/ppt/slides/slide7.xml" Id="Rbea3ff8171b742b9" /><Relationship Type="http://schemas.openxmlformats.org/officeDocument/2006/relationships/slide" Target="/ppt/slides/slide8.xml" Id="R1e33cc99e1044e39" /><Relationship Type="http://schemas.openxmlformats.org/officeDocument/2006/relationships/slide" Target="/ppt/slides/slide9.xml" Id="Rd77ccac2f57a4c58" /><Relationship Type="http://schemas.openxmlformats.org/officeDocument/2006/relationships/slide" Target="/ppt/slides/slide10.xml" Id="R661bdb3b3ace4540" /><Relationship Type="http://schemas.openxmlformats.org/officeDocument/2006/relationships/slide" Target="/ppt/slides/slide11.xml" Id="R152b359ae1f544b5" /><Relationship Type="http://schemas.openxmlformats.org/officeDocument/2006/relationships/slide" Target="/ppt/slides/slide12.xml" Id="R4063ccbbf4d24f17" /><Relationship Type="http://schemas.openxmlformats.org/officeDocument/2006/relationships/slide" Target="/ppt/slides/slide13.xml" Id="R30a1ab588b864dd8" /><Relationship Type="http://schemas.openxmlformats.org/officeDocument/2006/relationships/slide" Target="/ppt/slides/slide14.xml" Id="R395f75fc224043a3" /><Relationship Type="http://schemas.openxmlformats.org/officeDocument/2006/relationships/slide" Target="/ppt/slides/slide15.xml" Id="Rf361841512ec45ec" /><Relationship Type="http://schemas.openxmlformats.org/officeDocument/2006/relationships/slide" Target="/ppt/slides/slide16.xml" Id="R829259d61021468e" /><Relationship Type="http://schemas.openxmlformats.org/officeDocument/2006/relationships/slide" Target="/ppt/slides/slide17.xml" Id="R909e9509863944f7" /><Relationship Type="http://schemas.openxmlformats.org/officeDocument/2006/relationships/slide" Target="/ppt/slides/slide18.xml" Id="Rb1c42f7cb4cc4d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3c6d47caaa42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f18151625d4b83" /><Relationship Type="http://schemas.openxmlformats.org/officeDocument/2006/relationships/notesMaster" Target="/ppt/notesMasters/notesMaster1.xml" Id="Rda496493b98846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25e3c972414be4" /><Relationship Type="http://schemas.openxmlformats.org/officeDocument/2006/relationships/notesMaster" Target="/ppt/notesMasters/notesMaster1.xml" Id="R1d3c52635b6a46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79e7d35e084f36" /><Relationship Type="http://schemas.openxmlformats.org/officeDocument/2006/relationships/notesMaster" Target="/ppt/notesMasters/notesMaster1.xml" Id="R677a77b9230840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a111b9827e4115" /><Relationship Type="http://schemas.openxmlformats.org/officeDocument/2006/relationships/notesMaster" Target="/ppt/notesMasters/notesMaster1.xml" Id="R673f944b638d4e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d34b2a73e04563" /><Relationship Type="http://schemas.openxmlformats.org/officeDocument/2006/relationships/notesMaster" Target="/ppt/notesMasters/notesMaster1.xml" Id="R21566f01cce049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f8751e0a9c49de" /><Relationship Type="http://schemas.openxmlformats.org/officeDocument/2006/relationships/notesMaster" Target="/ppt/notesMasters/notesMaster1.xml" Id="R244e7ada7d884e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cd6e3720a3472e" /><Relationship Type="http://schemas.openxmlformats.org/officeDocument/2006/relationships/notesMaster" Target="/ppt/notesMasters/notesMaster1.xml" Id="R861e39e9cf2b4e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d1bcbd551647f4" /><Relationship Type="http://schemas.openxmlformats.org/officeDocument/2006/relationships/notesMaster" Target="/ppt/notesMasters/notesMaster1.xml" Id="Ra5bc05131de947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346d2e358b4cc2" /><Relationship Type="http://schemas.openxmlformats.org/officeDocument/2006/relationships/notesMaster" Target="/ppt/notesMasters/notesMaster1.xml" Id="Rdb508700862b4f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875ba563e04b85" /><Relationship Type="http://schemas.openxmlformats.org/officeDocument/2006/relationships/notesMaster" Target="/ppt/notesMasters/notesMaster1.xml" Id="R2031984c019d47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f2d39fd7fb4db6" /><Relationship Type="http://schemas.openxmlformats.org/officeDocument/2006/relationships/notesMaster" Target="/ppt/notesMasters/notesMaster1.xml" Id="R302a938a730f4b9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d6a8f64f734c35" /><Relationship Type="http://schemas.openxmlformats.org/officeDocument/2006/relationships/notesMaster" Target="/ppt/notesMasters/notesMaster1.xml" Id="Rf519f48d3cb34c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8a37527ed3a4391" /><Relationship Type="http://schemas.openxmlformats.org/officeDocument/2006/relationships/notesMaster" Target="/ppt/notesMasters/notesMaster1.xml" Id="R253ee2f28972442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60750c7c553451e" /><Relationship Type="http://schemas.openxmlformats.org/officeDocument/2006/relationships/notesMaster" Target="/ppt/notesMasters/notesMaster1.xml" Id="R6df059d16eb0400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c57136eb325495b" /><Relationship Type="http://schemas.openxmlformats.org/officeDocument/2006/relationships/notesMaster" Target="/ppt/notesMasters/notesMaster1.xml" Id="R2e37974be11b415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a4ff3ee82ee4d30" /><Relationship Type="http://schemas.openxmlformats.org/officeDocument/2006/relationships/notesMaster" Target="/ppt/notesMasters/notesMaster1.xml" Id="R239f0e2a07a04dc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51e50991b164fb2" /><Relationship Type="http://schemas.openxmlformats.org/officeDocument/2006/relationships/notesMaster" Target="/ppt/notesMasters/notesMaster1.xml" Id="R884ddced30dd416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16e434d4fa24a3c" /><Relationship Type="http://schemas.openxmlformats.org/officeDocument/2006/relationships/notesMaster" Target="/ppt/notesMasters/notesMaster1.xml" Id="R9c67d1a9dc4c4a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e727b67dc94a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d51062ba89447e" /><Relationship Type="http://schemas.openxmlformats.org/officeDocument/2006/relationships/slideLayout" Target="/ppt/slideLayouts/slideLayout1.xml" Id="Rce8c9b59f40441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8c9b59f40441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8db7e4ae44a4b" /><Relationship Type="http://schemas.openxmlformats.org/officeDocument/2006/relationships/notesSlide" Target="/ppt/notesSlides/notesSlide1.xml" Id="R47d418a77e6840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f655fc6774925" /><Relationship Type="http://schemas.openxmlformats.org/officeDocument/2006/relationships/notesSlide" Target="/ppt/notesSlides/notesSlide2.xml" Id="R3ca0c2e9507440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d7cfdc1684b6d" /><Relationship Type="http://schemas.openxmlformats.org/officeDocument/2006/relationships/notesSlide" Target="/ppt/notesSlides/notesSlide3.xml" Id="Rd6f919b2fd2244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f8974a3df4cf7" /><Relationship Type="http://schemas.openxmlformats.org/officeDocument/2006/relationships/notesSlide" Target="/ppt/notesSlides/notesSlide4.xml" Id="R324bd21aa34b43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f3f53abee4d26" /><Relationship Type="http://schemas.openxmlformats.org/officeDocument/2006/relationships/notesSlide" Target="/ppt/notesSlides/notesSlide5.xml" Id="R6c34cb3418e24d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5f27ed037495f" /><Relationship Type="http://schemas.openxmlformats.org/officeDocument/2006/relationships/notesSlide" Target="/ppt/notesSlides/notesSlide6.xml" Id="Re26021ce4ebd42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da7f21b7c425a" /><Relationship Type="http://schemas.openxmlformats.org/officeDocument/2006/relationships/notesSlide" Target="/ppt/notesSlides/notesSlide7.xml" Id="Rbe7bd5fa105f4a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0efa0f9604424" /><Relationship Type="http://schemas.openxmlformats.org/officeDocument/2006/relationships/notesSlide" Target="/ppt/notesSlides/notesSlide8.xml" Id="Rb63a4f6a111948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aa88ecce94810" /><Relationship Type="http://schemas.openxmlformats.org/officeDocument/2006/relationships/notesSlide" Target="/ppt/notesSlides/notesSlide9.xml" Id="Rad83d7c60ca14a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59fb3c0fd4e0d" /><Relationship Type="http://schemas.openxmlformats.org/officeDocument/2006/relationships/notesSlide" Target="/ppt/notesSlides/notesSlide10.xml" Id="R3615f32c63eb4e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a527c1b264b6c" /><Relationship Type="http://schemas.openxmlformats.org/officeDocument/2006/relationships/notesSlide" Target="/ppt/notesSlides/notesSlide11.xml" Id="R120bab3ec05c47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faf18d46f4edc" /><Relationship Type="http://schemas.openxmlformats.org/officeDocument/2006/relationships/notesSlide" Target="/ppt/notesSlides/notesSlide12.xml" Id="R51d5aa4f353f41b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4b5d913b7469d" /><Relationship Type="http://schemas.openxmlformats.org/officeDocument/2006/relationships/notesSlide" Target="/ppt/notesSlides/notesSlide13.xml" Id="R453cfdccee5144b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9caf0252548dc" /><Relationship Type="http://schemas.openxmlformats.org/officeDocument/2006/relationships/notesSlide" Target="/ppt/notesSlides/notesSlide14.xml" Id="Rea3466bd75be481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4565166a74fd5" /><Relationship Type="http://schemas.openxmlformats.org/officeDocument/2006/relationships/notesSlide" Target="/ppt/notesSlides/notesSlide15.xml" Id="R7eb65528a98b43e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d65748a7248c6" /><Relationship Type="http://schemas.openxmlformats.org/officeDocument/2006/relationships/notesSlide" Target="/ppt/notesSlides/notesSlide16.xml" Id="Rfed7f7d0e3b1493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0c361d4ac4827" /><Relationship Type="http://schemas.openxmlformats.org/officeDocument/2006/relationships/notesSlide" Target="/ppt/notesSlides/notesSlide17.xml" Id="Rd1bc5ee0549f489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abbd8dd4f492b" /><Relationship Type="http://schemas.openxmlformats.org/officeDocument/2006/relationships/notesSlide" Target="/ppt/notesSlides/notesSlide18.xml" Id="R4d17a64145224b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2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227FB-B2C4-4AD4-B681-BC57FD0B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952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2E82B-EBE7-4E32-A9F5-2129B2D1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525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4D6D9"/>
                </a:solidFill>
              </a:defRPr>
            </a:pPr>
            <a:r>
              <a:rPr sz="1350" b="1">
                <a:solidFill>
                  <a:srgbClr val="84D6D9"/>
                </a:solidFill>
              </a:rPr>
              <a:t>PYTHON 資料分析實戰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0DEAD-7531-4C43-8DAA-43253323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Lesson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F506F-3F39-4242-ACD7-3619237C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函式 Function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2A02E-3F59-4C95-9343-35D190F2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84D6D9"/>
                </a:solidFill>
              </a:defRPr>
            </a:pPr>
            <a:r>
              <a:rPr sz="1800" b="0">
                <a:solidFill>
                  <a:srgbClr val="84D6D9"/>
                </a:solidFill>
              </a:rPr>
              <a:t>參數 · 回傳值 · 重複使用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ECFD4-7B92-4AC2-8353-2E81C15C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JW｜課程講師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EA576-A1A1-420B-A2B4-CFBBF4C5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33500"/>
            <a:ext cx="20955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E3F14-4CFB-4CDE-BA4D-F6E6D688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09750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AED03-607B-4705-BE7A-8DAFA259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003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2239"/>
                </a:solidFill>
              </a:defRPr>
            </a:pPr>
            <a:r>
              <a:rPr sz="1350" b="1">
                <a:solidFill>
                  <a:srgbClr val="0B2239"/>
                </a:solidFill>
              </a:rPr>
              <a:t>START</a:t>
            </a:r>
          </a:p>
        </p:txBody>
      </p:sp>
    </p:spTree>
    <p:extLst>
      <p:ext uri="{BB962C8B-B14F-4D97-AF65-F5344CB8AC3E}">
        <p14:creationId xmlns:p14="http://schemas.microsoft.com/office/powerpoint/2010/main" val="7142117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F2725-77B3-4580-863B-CD80EA50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54B20-55BC-42F8-93FA-53604F84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本堂目標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F70D2-131D-4F68-959D-0368F208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把重複程式整理成可重複使用的工具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E84AD-4006-4A09-9C01-2506216F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C049C-2A0B-4907-B4D5-2EBD69F2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9AA5"/>
                </a:solidFill>
              </a:defRPr>
            </a:pPr>
            <a:r>
              <a:rPr sz="217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FF457-269A-4486-B45A-BE9F42F3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621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5202B"/>
                </a:solidFill>
              </a:defRPr>
            </a:pPr>
            <a:r>
              <a:rPr sz="1950" b="0">
                <a:solidFill>
                  <a:srgbClr val="15202B"/>
                </a:solidFill>
              </a:rPr>
              <a:t>用 def 定義函式並正確呼叫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AF620-EE99-4571-A509-30AD68BA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03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9AA5"/>
                </a:solidFill>
              </a:defRPr>
            </a:pPr>
            <a:r>
              <a:rPr sz="217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AADB6-5FC4-4A91-88DC-1EC27636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03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5202B"/>
                </a:solidFill>
              </a:defRPr>
            </a:pPr>
            <a:r>
              <a:rPr sz="1950" b="0">
                <a:solidFill>
                  <a:srgbClr val="15202B"/>
                </a:solidFill>
              </a:rPr>
              <a:t>用參數把資料傳進函式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C5AA79-ED30-4166-A0A4-2163A8DD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9AA5"/>
                </a:solidFill>
              </a:defRPr>
            </a:pPr>
            <a:r>
              <a:rPr sz="217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D324C-BB74-4625-ADED-3FC13DDA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385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5202B"/>
                </a:solidFill>
              </a:defRPr>
            </a:pPr>
            <a:r>
              <a:rPr sz="1950" b="0">
                <a:solidFill>
                  <a:srgbClr val="15202B"/>
                </a:solidFill>
              </a:rPr>
              <a:t>用 return 把計算結果傳回來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9C923-15EB-4B06-86A7-4E2E244C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9AA5"/>
                </a:solidFill>
              </a:defRPr>
            </a:pPr>
            <a:r>
              <a:rPr sz="217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4CF95F-8253-4148-B8A4-1A85E9DE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767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5202B"/>
                </a:solidFill>
              </a:defRPr>
            </a:pPr>
            <a:r>
              <a:rPr sz="1950" b="0">
                <a:solidFill>
                  <a:srgbClr val="15202B"/>
                </a:solidFill>
              </a:rPr>
              <a:t>把訂單流程拆成小函式</a:t>
            </a:r>
          </a:p>
        </p:txBody>
      </p:sp>
    </p:spTree>
    <p:extLst>
      <p:ext uri="{BB962C8B-B14F-4D97-AF65-F5344CB8AC3E}">
        <p14:creationId xmlns:p14="http://schemas.microsoft.com/office/powerpoint/2010/main" val="586215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974A1-CA65-48BA-ABA8-3E89BECE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C98D5-8F52-4957-8588-CD9A9DE9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為什麼需要函式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046D4-A610-410F-8F96-1AE4C478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同一段邏輯只寫一次，修改也只改一次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FD9CC-5D88-4EAD-9A43-A056E3B2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9A262-A5DE-492A-A094-D9F37847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9AA5"/>
                </a:solidFill>
              </a:defRPr>
            </a:pPr>
            <a:r>
              <a:rPr sz="217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42703-14BC-4D15-A412-E0E3BC4A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621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5202B"/>
                </a:solidFill>
              </a:defRPr>
            </a:pPr>
            <a:r>
              <a:rPr sz="1950" b="0">
                <a:solidFill>
                  <a:srgbClr val="15202B"/>
                </a:solidFill>
              </a:rPr>
              <a:t>減少複製貼上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7EB9D-A6B0-4BEB-891A-EF273F98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03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9AA5"/>
                </a:solidFill>
              </a:defRPr>
            </a:pPr>
            <a:r>
              <a:rPr sz="217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10C2E-5820-43F2-8AB5-799F3713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03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5202B"/>
                </a:solidFill>
              </a:defRPr>
            </a:pPr>
            <a:r>
              <a:rPr sz="1950" b="0">
                <a:solidFill>
                  <a:srgbClr val="15202B"/>
                </a:solidFill>
              </a:rPr>
              <a:t>讓程式名稱說明用途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531E7A-28E8-41F6-A7FC-120BF221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9AA5"/>
                </a:solidFill>
              </a:defRPr>
            </a:pPr>
            <a:r>
              <a:rPr sz="217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CE8F9B-A4C9-4778-94CF-94FDDA70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385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5202B"/>
                </a:solidFill>
              </a:defRPr>
            </a:pPr>
            <a:r>
              <a:rPr sz="1950" b="0">
                <a:solidFill>
                  <a:srgbClr val="15202B"/>
                </a:solidFill>
              </a:rPr>
              <a:t>方便測試不同資料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5B500-2B7C-4DD7-836E-09F6279A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9AA5"/>
                </a:solidFill>
              </a:defRPr>
            </a:pPr>
            <a:r>
              <a:rPr sz="217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0C2CA-8000-43F1-8A81-A29D5928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767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5202B"/>
                </a:solidFill>
              </a:defRPr>
            </a:pPr>
            <a:r>
              <a:rPr sz="1950" b="0">
                <a:solidFill>
                  <a:srgbClr val="15202B"/>
                </a:solidFill>
              </a:rPr>
              <a:t>把複雜流程拆成小步驟</a:t>
            </a:r>
          </a:p>
        </p:txBody>
      </p:sp>
    </p:spTree>
    <p:extLst>
      <p:ext uri="{BB962C8B-B14F-4D97-AF65-F5344CB8AC3E}">
        <p14:creationId xmlns:p14="http://schemas.microsoft.com/office/powerpoint/2010/main" val="19404566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7B01A-A47E-45E9-86AD-23F097E0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614AE-DC24-4AC7-B8F9-13ED1B91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函式的三個角色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7B404-FD80-45A3-AE21-A7714C68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參數、工作、回傳值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43CE7-4513-4070-8073-1BD7C907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BAE12-B977-4149-A987-DDD44CA0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B2239"/>
                </a:solidFill>
              </a:defRPr>
            </a:pPr>
            <a:r>
              <a:rPr sz="2400" b="1">
                <a:solidFill>
                  <a:srgbClr val="0B2239"/>
                </a:solidFill>
              </a:rPr>
              <a:t>參數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0AE33-CBA0-4F3E-9377-A6679825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431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B2239"/>
                </a:solidFill>
              </a:defRPr>
            </a:pPr>
            <a:r>
              <a:rPr sz="2400" b="1">
                <a:solidFill>
                  <a:srgbClr val="0B2239"/>
                </a:solidFill>
              </a:rPr>
              <a:t>需要哪些資料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3D2FC-480E-43C4-9AF6-504505B4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431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B2239"/>
                </a:solidFill>
              </a:defRPr>
            </a:pPr>
            <a:r>
              <a:rPr sz="2400" b="1">
                <a:solidFill>
                  <a:srgbClr val="0B2239"/>
                </a:solidFill>
              </a:rPr>
              <a:t>工作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1BAC3-65D7-4E42-AB5E-E96A97D8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48000"/>
            <a:ext cx="952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D474C-6B10-4243-B159-F4FA475B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48000"/>
            <a:ext cx="952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B72FA-68A7-40C4-89DC-630B3692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48000"/>
            <a:ext cx="952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0EE58-A533-439D-968F-B639197B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147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9AA5"/>
                </a:solidFill>
              </a:defRPr>
            </a:pPr>
            <a:r>
              <a:rPr sz="1650" b="1">
                <a:solidFill>
                  <a:srgbClr val="1F9AA5"/>
                </a:solidFill>
              </a:rPr>
              <a:t>函式內的步驟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2EDC99-7544-4450-97E8-3EAC3773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147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9AA5"/>
                </a:solidFill>
              </a:defRPr>
            </a:pPr>
            <a:r>
              <a:rPr sz="1650" b="1">
                <a:solidFill>
                  <a:srgbClr val="1F9AA5"/>
                </a:solidFill>
              </a:rPr>
              <a:t>回傳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099F2-AD3A-4654-B785-A7B12E36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147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9AA5"/>
                </a:solidFill>
              </a:defRPr>
            </a:pPr>
            <a:r>
              <a:rPr sz="1650" b="1">
                <a:solidFill>
                  <a:srgbClr val="1F9AA5"/>
                </a:solidFill>
              </a:rPr>
              <a:t>把答案交出去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8DE52D-4937-4AC1-92DA-97D30405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053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6271"/>
                </a:solidFill>
              </a:defRPr>
            </a:pPr>
            <a:r>
              <a:rPr sz="1800" b="0">
                <a:solidFill>
                  <a:srgbClr val="536271"/>
                </a:solidFill>
              </a:rPr>
              <a:t>先想輸入與輸出，再開始寫 def。</a:t>
            </a:r>
          </a:p>
        </p:txBody>
      </p:sp>
    </p:spTree>
    <p:extLst>
      <p:ext uri="{BB962C8B-B14F-4D97-AF65-F5344CB8AC3E}">
        <p14:creationId xmlns:p14="http://schemas.microsoft.com/office/powerpoint/2010/main" val="13916187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F1CAE4-187A-4F0A-9022-7437844E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5A867-3276-404D-8C24-77366B37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第一個函式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22E0D9-D661-4469-9627-C8C6985B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定義之後，仍要加括號才會執行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14BAF-B825-4761-B241-2C3115FA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46AAA-3079-4B02-B281-1758AB3E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26670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58611-4227-4A38-8E90-BBB87848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241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B2239"/>
                </a:solidFill>
              </a:defRPr>
            </a:pPr>
            <a:r>
              <a:rPr sz="2700" b="1">
                <a:solidFill>
                  <a:srgbClr val="0B2239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C7938-2E5C-44A1-AE79-D6E1E2CD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86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36271"/>
                </a:solidFill>
              </a:defRPr>
            </a:pPr>
            <a:r>
              <a:rPr sz="1500" b="0">
                <a:solidFill>
                  <a:srgbClr val="536271"/>
                </a:solidFill>
              </a:rPr>
              <a:t>def say_hello():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D244E-6575-40A7-B5EE-DBC5E385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098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1F9AA5"/>
                </a:solidFill>
              </a:defRPr>
            </a:pPr>
            <a:r>
              <a:rPr sz="3300" b="1">
                <a:solidFill>
                  <a:srgbClr val="1F9AA5"/>
                </a:solidFill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36D3C-2493-4D9A-9D05-D6265A35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43125"/>
            <a:ext cx="26670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6D736-0200-4904-9249-1832206F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241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B2239"/>
                </a:solidFill>
              </a:defRPr>
            </a:pPr>
            <a:r>
              <a:rPr sz="2550" b="1">
                <a:solidFill>
                  <a:srgbClr val="0B2239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0854D-6428-40C1-8252-CF860CC6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86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36271"/>
                </a:solidFill>
              </a:defRPr>
            </a:pPr>
            <a:r>
              <a:rPr sz="1500" b="0">
                <a:solidFill>
                  <a:srgbClr val="536271"/>
                </a:solidFill>
              </a:rPr>
              <a:t>    print("Hello")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5BB7C4-C169-40C9-ACFD-C5D406D2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098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1F9AA5"/>
                </a:solidFill>
              </a:defRPr>
            </a:pPr>
            <a:r>
              <a:rPr sz="3300" b="1">
                <a:solidFill>
                  <a:srgbClr val="1F9AA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B800B-2D00-47E3-AA5A-F5DD7D34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6670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B932D-54B2-4945-B9F3-C155C927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241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EE76B3-E66C-4374-B24B-91C18AC8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86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E8F4F5"/>
                </a:solidFill>
              </a:defRPr>
            </a:pPr>
            <a:r>
              <a:rPr sz="1500" b="0">
                <a:solidFill>
                  <a:srgbClr val="E8F4F5"/>
                </a:solidFill>
              </a:rPr>
              <a:t>say_hello()</a:t>
            </a:r>
          </a:p>
        </p:txBody>
      </p:sp>
    </p:spTree>
    <p:extLst>
      <p:ext uri="{BB962C8B-B14F-4D97-AF65-F5344CB8AC3E}">
        <p14:creationId xmlns:p14="http://schemas.microsoft.com/office/powerpoint/2010/main" val="7783890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8E990D-1874-4524-A96F-1EFA3A69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4A92E-2E51-4606-9EDA-112FA6EC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參數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7DE7F-D087-4B2A-8633-BC508E0A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同一個函式可以處理不同資料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B12E9-F2CB-49EB-AF10-BB4A5E50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0CC05-7172-4642-9F5B-30B1DBA4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F9AA5"/>
                </a:solidFill>
              </a:defRPr>
            </a:pPr>
            <a:r>
              <a:rPr sz="232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5F332-7B3B-40C5-AF91-1940670C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5202B"/>
                </a:solidFill>
              </a:defRPr>
            </a:pPr>
            <a:r>
              <a:rPr sz="2100" b="0">
                <a:solidFill>
                  <a:srgbClr val="15202B"/>
                </a:solidFill>
              </a:rPr>
              <a:t>greet("Bob") 使用不同資料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5870B-7881-4637-8631-F3BA9A3A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956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F9AA5"/>
                </a:solidFill>
              </a:defRPr>
            </a:pPr>
            <a:r>
              <a:rPr sz="232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28709-2125-4DFB-82DD-768184E1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5202B"/>
                </a:solidFill>
              </a:defRPr>
            </a:pPr>
            <a:r>
              <a:rPr sz="2100" b="0">
                <a:solidFill>
                  <a:srgbClr val="15202B"/>
                </a:solidFill>
              </a:rPr>
              <a:t>參數是函式的輸入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05DE22-6308-4D9E-AA28-AAD8FBB9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F9AA5"/>
                </a:solidFill>
              </a:defRPr>
            </a:pPr>
            <a:r>
              <a:rPr sz="232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2DE03-7068-41CB-81FF-0153E56F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5202B"/>
                </a:solidFill>
              </a:defRPr>
            </a:pPr>
            <a:r>
              <a:rPr sz="2100" b="0">
                <a:solidFill>
                  <a:srgbClr val="15202B"/>
                </a:solidFill>
              </a:rPr>
              <a:t>return 是函式的輸出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52829-D13C-4A89-A84E-8DAC6257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10287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7C9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578D74-C19C-44E2-833C-AAFFA93C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435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2239"/>
                </a:solidFill>
              </a:defRPr>
            </a:pPr>
            <a:r>
              <a:rPr sz="1650" b="1">
                <a:solidFill>
                  <a:srgbClr val="0B2239"/>
                </a:solidFill>
              </a:rPr>
              <a:t>參數讓工具可以重複使用。</a:t>
            </a:r>
          </a:p>
        </p:txBody>
      </p:sp>
    </p:spTree>
    <p:extLst>
      <p:ext uri="{BB962C8B-B14F-4D97-AF65-F5344CB8AC3E}">
        <p14:creationId xmlns:p14="http://schemas.microsoft.com/office/powerpoint/2010/main" val="17881139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3928B-E337-4743-86DF-26A9CECC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72B74-C036-4D4C-BED1-24901CCF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兩個參數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A86C6-0887-42BE-8895-113A9DAC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呼叫時要提供正確數量與順序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70886-86BA-40DD-9B49-6FDBC0A9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C63A5-DBFA-4BF1-9C60-3D1E59F4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43125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1F9AA5"/>
                </a:solidFill>
              </a:defRPr>
            </a:pPr>
            <a:r>
              <a:rPr sz="3300" b="1">
                <a:solidFill>
                  <a:srgbClr val="1F9AA5"/>
                </a:solidFill>
              </a:rPr>
              <a:t>subtotal(price, quantity)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7D34F-8583-433B-B4A1-D92A9842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33750"/>
            <a:ext cx="8572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DA6A4-C229-447A-B4E8-9C544E7C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0045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2239"/>
                </a:solidFill>
              </a:defRPr>
            </a:pPr>
            <a:r>
              <a:rPr sz="2025" b="1">
                <a:solidFill>
                  <a:srgbClr val="0B2239"/>
                </a:solidFill>
              </a:rPr>
              <a:t>price：商品單價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B20FB-1566-4CE1-9915-AE0A4ACD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36271"/>
                </a:solidFill>
              </a:defRPr>
            </a:pPr>
            <a:r>
              <a:rPr sz="1500" b="0">
                <a:solidFill>
                  <a:srgbClr val="536271"/>
                </a:solidFill>
              </a:rPr>
              <a:t>quantity：購買數量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493768-661F-4EC1-B180-807B46CC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958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74B50"/>
                </a:solidFill>
              </a:defRPr>
            </a:pPr>
            <a:r>
              <a:rPr sz="1650" b="1">
                <a:solidFill>
                  <a:srgbClr val="C74B50"/>
                </a:solidFill>
              </a:rPr>
              <a:t>呼叫時不可漏掉必要參數。</a:t>
            </a:r>
          </a:p>
        </p:txBody>
      </p:sp>
    </p:spTree>
    <p:extLst>
      <p:ext uri="{BB962C8B-B14F-4D97-AF65-F5344CB8AC3E}">
        <p14:creationId xmlns:p14="http://schemas.microsoft.com/office/powerpoint/2010/main" val="10553725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93321-73C1-425A-ACD3-1D738C94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F444B-01BF-4A4B-8944-EE903C16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return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36091-3DEF-464B-8B37-A611337B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print 只顯示；return 才能交給下一步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E7EE8-AD53-4B72-BA9D-410A3502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9F911-D622-4FA5-A6AA-267AE7BC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5095875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B0691-40AC-4384-8469-D33BE5A5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452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239"/>
                </a:solidFill>
              </a:defRPr>
            </a:pPr>
            <a:r>
              <a:rPr sz="2250" b="1">
                <a:solidFill>
                  <a:srgbClr val="0B2239"/>
                </a:solidFill>
              </a:rPr>
              <a:t>print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FFA900-3FA5-466B-BEEC-8512E30E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333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5202B"/>
                </a:solidFill>
              </a:defRPr>
            </a:pPr>
            <a:r>
              <a:rPr sz="1800" b="0">
                <a:solidFill>
                  <a:srgbClr val="15202B"/>
                </a:solidFill>
              </a:rPr>
              <a:t>顯示在畫面上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5202B"/>
                </a:solidFill>
              </a:defRPr>
            </a:pPr>
            <a:r>
              <a:rPr sz="1800" b="0">
                <a:solidFill>
                  <a:srgbClr val="15202B"/>
                </a:solidFill>
              </a:rPr>
              <a:t>不能接著計算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CFB57-94D3-417E-B292-7095704B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57375"/>
            <a:ext cx="5095875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64DC8-4BC7-439B-9302-C372EAE8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43125"/>
            <a:ext cx="452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239"/>
                </a:solidFill>
              </a:defRPr>
            </a:pPr>
            <a:r>
              <a:rPr sz="2250" b="1">
                <a:solidFill>
                  <a:srgbClr val="0B2239"/>
                </a:solidFill>
              </a:rPr>
              <a:t>return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622B6-8526-4A06-96D7-A1390F1E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57500"/>
            <a:ext cx="4333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5202B"/>
                </a:solidFill>
              </a:defRPr>
            </a:pPr>
            <a:r>
              <a:rPr sz="1800" b="0">
                <a:solidFill>
                  <a:srgbClr val="15202B"/>
                </a:solidFill>
              </a:rPr>
              <a:t>把答案交出去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5202B"/>
                </a:solidFill>
              </a:defRPr>
            </a:pPr>
            <a:r>
              <a:rPr sz="1800" b="0">
                <a:solidFill>
                  <a:srgbClr val="15202B"/>
                </a:solidFill>
              </a:rPr>
              <a:t>可以存入變數與再運算</a:t>
            </a:r>
          </a:p>
        </p:txBody>
      </p:sp>
    </p:spTree>
    <p:extLst>
      <p:ext uri="{BB962C8B-B14F-4D97-AF65-F5344CB8AC3E}">
        <p14:creationId xmlns:p14="http://schemas.microsoft.com/office/powerpoint/2010/main" val="10688281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16DC5-4F1D-4CF5-9D76-1B9BDD10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FE8DB-E3E1-4584-BB1C-5F37F925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print vs return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6831C-8781-4E70-94C4-EFA164EE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能否繼續使用，是兩者最大差別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DCEA7-2959-4491-B486-CCBCF922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A46A3-90E1-43AF-879E-0755E3C2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95500"/>
            <a:ext cx="876300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13AEB-12AD-435B-AE84-7E9D42CB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14625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return 的結果可以存入變數再運算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AD7C5-BA28-4AA0-8662-E48330CE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7187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84D6D9"/>
                </a:solidFill>
              </a:defRPr>
            </a:pPr>
            <a:r>
              <a:rPr sz="1650" b="0">
                <a:solidFill>
                  <a:srgbClr val="84D6D9"/>
                </a:solidFill>
              </a:rPr>
              <a:t>print 適合最後顯示，不適合傳遞答案</a:t>
            </a:r>
          </a:p>
        </p:txBody>
      </p:sp>
    </p:spTree>
    <p:extLst>
      <p:ext uri="{BB962C8B-B14F-4D97-AF65-F5344CB8AC3E}">
        <p14:creationId xmlns:p14="http://schemas.microsoft.com/office/powerpoint/2010/main" val="16678641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4AE87D-3233-4225-B198-B362DB32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EA08E-D439-4CC2-BECE-590464CD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預設參數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4A75B-ED97-4B55-A2C0-F1554F31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常用值先設定，特殊情況再覆蓋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06BA7-9909-42E5-A5AE-EAA93C5B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A2008-4B94-4427-9436-E82974E5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762500" cy="2762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7DD3A-F515-423B-B647-FAC17BE5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812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2239"/>
                </a:solidFill>
              </a:defRPr>
            </a:pPr>
            <a:r>
              <a:rPr sz="2400" b="1">
                <a:solidFill>
                  <a:srgbClr val="0B2239"/>
                </a:solidFill>
              </a:rPr>
              <a:t>一般呼叫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BDD78-2C27-45D5-AB13-F850AF2B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4325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5202B"/>
                </a:solidFill>
              </a:defRPr>
            </a:pPr>
            <a:r>
              <a:rPr sz="1875" b="0">
                <a:solidFill>
                  <a:srgbClr val="15202B"/>
                </a:solidFill>
              </a:rPr>
              <a:t>greet("Amy") 使用預設訊息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D0F98-6A17-4B8B-8A96-42CFD35E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2762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1593D-1635-4E5D-A3C7-5FEF6E82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2239"/>
                </a:solidFill>
              </a:defRPr>
            </a:pPr>
            <a:r>
              <a:rPr sz="2400" b="1">
                <a:solidFill>
                  <a:srgbClr val="0B2239"/>
                </a:solidFill>
              </a:rPr>
              <a:t>自訂呼叫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454FA-3372-4723-84EB-176C0F59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5202B"/>
                </a:solidFill>
              </a:defRPr>
            </a:pPr>
            <a:r>
              <a:rPr sz="1875" b="0">
                <a:solidFill>
                  <a:srgbClr val="15202B"/>
                </a:solidFill>
              </a:rPr>
              <a:t>greet("Bob", "早安")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284F44-D155-44C7-8C06-042BD2D9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863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9AA5"/>
                </a:solidFill>
              </a:defRPr>
            </a:pPr>
            <a:r>
              <a:rPr sz="1650" b="1">
                <a:solidFill>
                  <a:srgbClr val="1F9AA5"/>
                </a:solidFill>
              </a:rPr>
              <a:t>必要參數要放在預設參數前面</a:t>
            </a:r>
          </a:p>
        </p:txBody>
      </p:sp>
    </p:spTree>
    <p:extLst>
      <p:ext uri="{BB962C8B-B14F-4D97-AF65-F5344CB8AC3E}">
        <p14:creationId xmlns:p14="http://schemas.microsoft.com/office/powerpoint/2010/main" val="9440440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F95076-F1DD-46C9-AFA6-4615A94B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13601-2D42-42AA-AFD8-5737E4D9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區域變數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E39A3-56B4-4DFE-B8A7-2EFDA42D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函式內的變數，只服務這次工作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10DF5-AD97-4675-9A48-97A4A277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027BA-CEE8-46D7-A57E-0E38ABAF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90750"/>
            <a:ext cx="8001000" cy="1905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C91DC-A97B-4734-A642-3543B795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1462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建立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26C36-1247-47F3-89D7-203FB644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146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84D6D9"/>
                </a:solidFill>
              </a:defRPr>
            </a:pPr>
            <a:r>
              <a:rPr sz="3150" b="1">
                <a:solidFill>
                  <a:srgbClr val="84D6D9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6099EF-E226-462B-A8F5-B0641092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14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return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F3FE8-E659-4DD1-9BB1-E2A1330E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672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536271"/>
                </a:solidFill>
              </a:defRPr>
            </a:pPr>
            <a:r>
              <a:rPr sz="1875" b="0">
                <a:solidFill>
                  <a:srgbClr val="536271"/>
                </a:solidFill>
              </a:rPr>
              <a:t>函式結束後，只保留回傳的結果。</a:t>
            </a:r>
          </a:p>
        </p:txBody>
      </p:sp>
    </p:spTree>
    <p:extLst>
      <p:ext uri="{BB962C8B-B14F-4D97-AF65-F5344CB8AC3E}">
        <p14:creationId xmlns:p14="http://schemas.microsoft.com/office/powerpoint/2010/main" val="3695346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31E2E0-0DD6-4239-BEAD-0696C5AB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875F0-983B-4AB5-A23C-4493E1F6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程式骨架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60527-114F-42DB-AC42-EC10CE02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參數進來，結果回去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55339-02C1-4B5C-969D-54677D99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AC354-BEC1-438F-86E0-C3DCA693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95500"/>
            <a:ext cx="9525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4DCDB-91D1-44F9-9745-8A565CA7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543175"/>
            <a:ext cx="866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A8E6CF"/>
                </a:solidFill>
              </a:defRPr>
            </a:pPr>
            <a:r>
              <a:rPr sz="2850" b="1">
                <a:solidFill>
                  <a:srgbClr val="A8E6CF"/>
                </a:solidFill>
              </a:rPr>
              <a:t>def subtotal(price, quantity):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A8E6CF"/>
                </a:solidFill>
              </a:defRPr>
            </a:pPr>
            <a:r>
              <a:rPr sz="2850" b="1">
                <a:solidFill>
                  <a:srgbClr val="A8E6CF"/>
                </a:solidFill>
              </a:rPr>
              <a:t>    total = price * quantity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A8E6CF"/>
                </a:solidFill>
              </a:defRPr>
            </a:pPr>
            <a:r>
              <a:rPr sz="2850" b="1">
                <a:solidFill>
                  <a:srgbClr val="A8E6CF"/>
                </a:solidFill>
              </a:rPr>
              <a:t>    return total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2790A-D7F9-4E54-8E26-366577F8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3862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B2239"/>
                </a:solidFill>
              </a:defRPr>
            </a:pPr>
            <a:r>
              <a:rPr sz="1875" b="1">
                <a:solidFill>
                  <a:srgbClr val="0B2239"/>
                </a:solidFill>
              </a:rPr>
              <a:t>amount = subtotal(350, 3)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E6B63-4E73-4B03-BA82-F4277A57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0537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9AA5"/>
                </a:solidFill>
              </a:defRPr>
            </a:pPr>
            <a:r>
              <a:rPr sz="1650" b="1">
                <a:solidFill>
                  <a:srgbClr val="1F9AA5"/>
                </a:solidFill>
              </a:rPr>
              <a:t>print(amount)  # 1050</a:t>
            </a:r>
          </a:p>
        </p:txBody>
      </p:sp>
    </p:spTree>
    <p:extLst>
      <p:ext uri="{BB962C8B-B14F-4D97-AF65-F5344CB8AC3E}">
        <p14:creationId xmlns:p14="http://schemas.microsoft.com/office/powerpoint/2010/main" val="262271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C4F33-1979-4E14-9397-6CB7EBE0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189A1-0089-40AA-8A28-AD24AF90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動手練習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5B2DF-125B-4567-95E6-B3C368BE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建立 discount_price(price, rate)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BBFF0-5A73-4490-B440-893FC59C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C49D8-89CD-46D4-B227-C4F04212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62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9AA5"/>
                </a:solidFill>
              </a:defRPr>
            </a:pPr>
            <a:r>
              <a:rPr sz="2250" b="1">
                <a:solidFill>
                  <a:srgbClr val="1F9AA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5B366-00DC-4098-B8F7-094DB12E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定義兩個參數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C2F95-FDD3-4F84-804B-25BFA7A3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03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9AA5"/>
                </a:solidFill>
              </a:defRPr>
            </a:pPr>
            <a:r>
              <a:rPr sz="2250" b="1">
                <a:solidFill>
                  <a:srgbClr val="1F9AA5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137B5-5B8A-4871-9FC3-4962C015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03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計算 price * 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C3813-6D1F-48D0-8C9E-ADDFD66E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385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9AA5"/>
                </a:solidFill>
              </a:defRPr>
            </a:pPr>
            <a:r>
              <a:rPr sz="2250" b="1">
                <a:solidFill>
                  <a:srgbClr val="1F9AA5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C6935-F5FB-4F10-9927-70035231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385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用 return 回傳結果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34E41C-D9FE-4793-A513-7CFF8056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9AA5"/>
                </a:solidFill>
              </a:defRPr>
            </a:pPr>
            <a:r>
              <a:rPr sz="2250" b="1">
                <a:solidFill>
                  <a:srgbClr val="1F9AA5"/>
                </a:solidFill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043F9-CDA4-4D6A-B87F-9226C5EC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767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呼叫並測試三組資料</a:t>
            </a:r>
          </a:p>
        </p:txBody>
      </p:sp>
    </p:spTree>
    <p:extLst>
      <p:ext uri="{BB962C8B-B14F-4D97-AF65-F5344CB8AC3E}">
        <p14:creationId xmlns:p14="http://schemas.microsoft.com/office/powerpoint/2010/main" val="7317373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974A1-CA65-48BA-ABA8-3E89BECE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C98D5-8F52-4957-8588-CD9A9DE9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常見錯誤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046D4-A610-410F-8F96-1AE4C478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函式沒反應時，先檢查呼叫與 return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FD9CC-5D88-4EAD-9A43-A056E3B2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9A262-A5DE-492A-A094-D9F37847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9AA5"/>
                </a:solidFill>
              </a:defRPr>
            </a:pPr>
            <a:r>
              <a:rPr sz="217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42703-14BC-4D15-A412-E0E3BC4A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621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5202B"/>
                </a:solidFill>
              </a:defRPr>
            </a:pPr>
            <a:r>
              <a:rPr sz="1950" b="0">
                <a:solidFill>
                  <a:srgbClr val="15202B"/>
                </a:solidFill>
              </a:rPr>
              <a:t>只有 def，沒有呼叫函式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7EB9D-A6B0-4BEB-891A-EF273F98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03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9AA5"/>
                </a:solidFill>
              </a:defRPr>
            </a:pPr>
            <a:r>
              <a:rPr sz="217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10C2E-5820-43F2-8AB5-799F3713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03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5202B"/>
                </a:solidFill>
              </a:defRPr>
            </a:pPr>
            <a:r>
              <a:rPr sz="1950" b="0">
                <a:solidFill>
                  <a:srgbClr val="15202B"/>
                </a:solidFill>
              </a:rPr>
              <a:t>呼叫時漏掉括號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531E7A-28E8-41F6-A7FC-120BF221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9AA5"/>
                </a:solidFill>
              </a:defRPr>
            </a:pPr>
            <a:r>
              <a:rPr sz="217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CE8F9B-A4C9-4778-94CF-94FDDA70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385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5202B"/>
                </a:solidFill>
              </a:defRPr>
            </a:pPr>
            <a:r>
              <a:rPr sz="1950" b="0">
                <a:solidFill>
                  <a:srgbClr val="15202B"/>
                </a:solidFill>
              </a:rPr>
              <a:t>參數數量或順序錯誤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5B500-2B7C-4DD7-836E-09F6279A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9AA5"/>
                </a:solidFill>
              </a:defRPr>
            </a:pPr>
            <a:r>
              <a:rPr sz="2175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0C2CA-8000-43F1-8A81-A29D5928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767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5202B"/>
                </a:solidFill>
              </a:defRPr>
            </a:pPr>
            <a:r>
              <a:rPr sz="1950" b="0">
                <a:solidFill>
                  <a:srgbClr val="15202B"/>
                </a:solidFill>
              </a:rPr>
              <a:t>只 print，卻想把結果存起來</a:t>
            </a:r>
          </a:p>
        </p:txBody>
      </p:sp>
    </p:spTree>
    <p:extLst>
      <p:ext uri="{BB962C8B-B14F-4D97-AF65-F5344CB8AC3E}">
        <p14:creationId xmlns:p14="http://schemas.microsoft.com/office/powerpoint/2010/main" val="19404566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F1CAE4-187A-4F0A-9022-7437844E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5A867-3276-404D-8C24-77366B37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小作品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22E0D9-D661-4469-9627-C8C6985B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訂單工具組：小計、運費、總額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14BAF-B825-4761-B241-2C3115FA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46AAA-3079-4B02-B281-1758AB3E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26670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58611-4227-4A38-8E90-BBB87848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241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B2239"/>
                </a:solidFill>
              </a:defRPr>
            </a:pPr>
            <a:r>
              <a:rPr sz="2700" b="1">
                <a:solidFill>
                  <a:srgbClr val="0B2239"/>
                </a:solidFill>
              </a:rPr>
              <a:t>subtotal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C7938-2E5C-44A1-AE79-D6E1E2CD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86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36271"/>
                </a:solidFill>
              </a:defRPr>
            </a:pPr>
            <a:r>
              <a:rPr sz="1500" b="0">
                <a:solidFill>
                  <a:srgbClr val="536271"/>
                </a:solidFill>
              </a:rPr>
              <a:t>單價 × 數量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D244E-6575-40A7-B5EE-DBC5E385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098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1F9AA5"/>
                </a:solidFill>
              </a:defRPr>
            </a:pPr>
            <a:r>
              <a:rPr sz="3300" b="1">
                <a:solidFill>
                  <a:srgbClr val="1F9AA5"/>
                </a:solidFill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36D3C-2493-4D9A-9D05-D6265A35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43125"/>
            <a:ext cx="26670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6D736-0200-4904-9249-1832206F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241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B2239"/>
                </a:solidFill>
              </a:defRPr>
            </a:pPr>
            <a:r>
              <a:rPr sz="2550" b="1">
                <a:solidFill>
                  <a:srgbClr val="0B2239"/>
                </a:solidFill>
              </a:rPr>
              <a:t>shipping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0854D-6428-40C1-8252-CF860CC6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86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36271"/>
                </a:solidFill>
              </a:defRPr>
            </a:pPr>
            <a:r>
              <a:rPr sz="1500" b="0">
                <a:solidFill>
                  <a:srgbClr val="536271"/>
                </a:solidFill>
              </a:rPr>
              <a:t>依小計判斷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5BB7C4-C169-40C9-ACFD-C5D406D2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098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1F9AA5"/>
                </a:solidFill>
              </a:defRPr>
            </a:pPr>
            <a:r>
              <a:rPr sz="3300" b="1">
                <a:solidFill>
                  <a:srgbClr val="1F9AA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B800B-2D00-47E3-AA5A-F5DD7D34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6670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B932D-54B2-4945-B9F3-C155C927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241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EE76B3-E66C-4374-B24B-91C18AC8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86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E8F4F5"/>
                </a:solidFill>
              </a:defRPr>
            </a:pPr>
            <a:r>
              <a:rPr sz="1500" b="0">
                <a:solidFill>
                  <a:srgbClr val="E8F4F5"/>
                </a:solidFill>
              </a:rPr>
              <a:t>小計 + 運費</a:t>
            </a:r>
          </a:p>
        </p:txBody>
      </p:sp>
    </p:spTree>
    <p:extLst>
      <p:ext uri="{BB962C8B-B14F-4D97-AF65-F5344CB8AC3E}">
        <p14:creationId xmlns:p14="http://schemas.microsoft.com/office/powerpoint/2010/main" val="7783890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93321-73C1-425A-ACD3-1D738C94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F444B-01BF-4A4B-8944-EE903C16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驗收題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36091-3DEF-464B-8B37-A611337B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把一大段程式拆成三個小工具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E7EE8-AD53-4B72-BA9D-410A3502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9F911-D622-4FA5-A6AA-267AE7BC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5095875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B0691-40AC-4384-8469-D33BE5A5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452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239"/>
                </a:solidFill>
              </a:defRPr>
            </a:pPr>
            <a:r>
              <a:rPr sz="2250" b="1">
                <a:solidFill>
                  <a:srgbClr val="0B2239"/>
                </a:solidFill>
              </a:rPr>
              <a:t>計算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FFA900-3FA5-466B-BEEC-8512E30E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333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5202B"/>
                </a:solidFill>
              </a:defRPr>
            </a:pPr>
            <a:r>
              <a:rPr sz="1800" b="0">
                <a:solidFill>
                  <a:srgbClr val="15202B"/>
                </a:solidFill>
              </a:rPr>
              <a:t>subtotal(price, quantity)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CFB57-94D3-417E-B292-7095704B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57375"/>
            <a:ext cx="5095875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64DC8-4BC7-439B-9302-C372EAE8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43125"/>
            <a:ext cx="452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239"/>
                </a:solidFill>
              </a:defRPr>
            </a:pPr>
            <a:r>
              <a:rPr sz="2250" b="1">
                <a:solidFill>
                  <a:srgbClr val="0B2239"/>
                </a:solidFill>
              </a:rPr>
              <a:t>整合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622B6-8526-4A06-96D7-A1390F1E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57500"/>
            <a:ext cx="4333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5202B"/>
                </a:solidFill>
              </a:defRPr>
            </a:pPr>
            <a:r>
              <a:rPr sz="1800" b="0">
                <a:solidFill>
                  <a:srgbClr val="15202B"/>
                </a:solidFill>
              </a:rPr>
              <a:t>shipping_fee(amount)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5202B"/>
                </a:solidFill>
              </a:defRPr>
            </a:pPr>
            <a:r>
              <a:rPr sz="1800" b="0">
                <a:solidFill>
                  <a:srgbClr val="15202B"/>
                </a:solidFill>
              </a:rPr>
              <a:t>order_total(amount, fee)</a:t>
            </a:r>
          </a:p>
        </p:txBody>
      </p:sp>
    </p:spTree>
    <p:extLst>
      <p:ext uri="{BB962C8B-B14F-4D97-AF65-F5344CB8AC3E}">
        <p14:creationId xmlns:p14="http://schemas.microsoft.com/office/powerpoint/2010/main" val="10688281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C4F33-1979-4E14-9397-6CB7EBE0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189A1-0089-40AA-8A28-AD24AF90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9AA5"/>
                </a:solidFill>
              </a:defRPr>
            </a:pPr>
            <a:r>
              <a:rPr sz="1050" b="1">
                <a:solidFill>
                  <a:srgbClr val="1F9AA5"/>
                </a:solidFill>
              </a:rPr>
              <a:t>完成檢查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5B2DF-125B-4567-95E6-B3C368BE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2239"/>
                </a:solidFill>
              </a:defRPr>
            </a:pPr>
            <a:r>
              <a:rPr sz="2850" b="1">
                <a:solidFill>
                  <a:srgbClr val="0B2239"/>
                </a:solidFill>
              </a:rPr>
              <a:t>下課前確認你能做到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BBFF0-5A73-4490-B440-893FC59C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36271"/>
                </a:solidFill>
              </a:defRPr>
            </a:pPr>
            <a:r>
              <a:rPr sz="900" b="0">
                <a:solidFill>
                  <a:srgbClr val="536271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C49D8-89CD-46D4-B227-C4F04212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62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9AA5"/>
                </a:solidFill>
              </a:defRPr>
            </a:pPr>
            <a:r>
              <a:rPr sz="2250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5B366-00DC-4098-B8F7-094DB12E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能定義與呼叫函式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C2F95-FDD3-4F84-804B-25BFA7A3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03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9AA5"/>
                </a:solidFill>
              </a:defRPr>
            </a:pPr>
            <a:r>
              <a:rPr sz="2250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137B5-5B8A-4871-9FC3-4962C015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03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能使用一個或多個參數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C3813-6D1F-48D0-8C9E-ADDFD66E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385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9AA5"/>
                </a:solidFill>
              </a:defRPr>
            </a:pPr>
            <a:r>
              <a:rPr sz="2250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C6935-F5FB-4F10-9927-70035231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385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能說明 print 與 return 的差別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34E41C-D9FE-4793-A513-7CFF8056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9AA5"/>
                </a:solidFill>
              </a:defRPr>
            </a:pPr>
            <a:r>
              <a:rPr sz="2250" b="1">
                <a:solidFill>
                  <a:srgbClr val="1F9AA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043F9-CDA4-4D6A-B87F-9226C5EC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767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5202B"/>
                </a:solidFill>
              </a:defRPr>
            </a:pPr>
            <a:r>
              <a:rPr sz="2025" b="0">
                <a:solidFill>
                  <a:srgbClr val="15202B"/>
                </a:solidFill>
              </a:rPr>
              <a:t>能用函式完成訂單工具組</a:t>
            </a:r>
          </a:p>
        </p:txBody>
      </p:sp>
    </p:spTree>
    <p:extLst>
      <p:ext uri="{BB962C8B-B14F-4D97-AF65-F5344CB8AC3E}">
        <p14:creationId xmlns:p14="http://schemas.microsoft.com/office/powerpoint/2010/main" val="7317373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22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49DB8-4430-4AE9-83CE-C433ED77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716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函式不是把程式變複雜，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49463-C063-430F-A225-6FD6796D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84D6D9"/>
                </a:solidFill>
              </a:defRPr>
            </a:pPr>
            <a:r>
              <a:rPr sz="3150" b="1">
                <a:solidFill>
                  <a:srgbClr val="84D6D9"/>
                </a:solidFill>
              </a:rPr>
              <a:t>而是把複雜工作拆成容易理解的小工具。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DDF25-D814-4F9D-9361-4D894688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14750"/>
            <a:ext cx="4095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F9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3E759-7DDC-4E62-97DB-38EF8BA9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719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下一堂：錯誤處理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ABAAA-5C15-44E7-9354-AB7DD93E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8162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作業請為每個函式測試至少三組資料</a:t>
            </a:r>
          </a:p>
        </p:txBody>
      </p:sp>
    </p:spTree>
    <p:extLst>
      <p:ext uri="{BB962C8B-B14F-4D97-AF65-F5344CB8AC3E}">
        <p14:creationId xmlns:p14="http://schemas.microsoft.com/office/powerpoint/2010/main" val="10650076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2026-08-01T04:44:00.6220000Z</dcterms:created>
  <dcterms:modified xsi:type="dcterms:W3CDTF">2026-08-01T04:44:00.6220000Z</dcterms:modified>
</coreProperties>
</file>